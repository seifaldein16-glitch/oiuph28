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80" r:id="rId23"/>
    <p:sldId id="28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53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p:cNvSpPr>
            <a:spLocks noGrp="1"/>
          </p:cNvSpPr>
          <p:nvPr>
            <p:ph type="ctrTitle"/>
          </p:nvPr>
        </p:nvSpPr>
        <p:spPr>
          <a:xfrm>
            <a:off x="685800" y="2130425"/>
            <a:ext cx="7772400" cy="1470025"/>
          </a:xfrm>
        </p:spPr>
        <p:txBody>
          <a:bodyPr/>
          <a:lstStyle/>
          <a:p>
            <a:r>
              <a:rPr lang="ar-SA"/>
              <a:t>انقر لتحرير نمط العنوان الرئيسي</a:t>
            </a:r>
            <a:endParaRPr lang="en-US"/>
          </a:p>
        </p:txBody>
      </p:sp>
      <p:sp>
        <p:nvSpPr>
          <p:cNvPr id="3" name="عنوان فرعي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ar-SA"/>
              <a:t>انقر لتحرير نمط العنوان الثانوي الرئيسي</a:t>
            </a:r>
            <a:endParaRPr lang="en-US"/>
          </a:p>
        </p:txBody>
      </p:sp>
      <p:sp>
        <p:nvSpPr>
          <p:cNvPr id="4" name="عنصر نائب للتاريخ 3"/>
          <p:cNvSpPr>
            <a:spLocks noGrp="1"/>
          </p:cNvSpPr>
          <p:nvPr>
            <p:ph type="dt" sz="half" idx="10"/>
          </p:nvPr>
        </p:nvSpPr>
        <p:spPr/>
        <p:txBody>
          <a:bodyPr/>
          <a:lstStyle/>
          <a:p>
            <a:fld id="{9B532F53-AF43-45C2-8ABF-390974D7C0F5}" type="datetimeFigureOut">
              <a:rPr lang="en-US" smtClean="0"/>
              <a:pPr/>
              <a:t>3/21/2026</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51BBC140-3438-4B69-A9E5-DB007F7640C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en-US"/>
          </a:p>
        </p:txBody>
      </p:sp>
      <p:sp>
        <p:nvSpPr>
          <p:cNvPr id="3" name="عنصر نائب للمحتوى 2"/>
          <p:cNvSpPr>
            <a:spLocks noGrp="1"/>
          </p:cNvSpPr>
          <p:nvPr>
            <p:ph idx="1"/>
          </p:nvPr>
        </p:nvSpPr>
        <p:spPr/>
        <p:txBody>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تاريخ 3"/>
          <p:cNvSpPr>
            <a:spLocks noGrp="1"/>
          </p:cNvSpPr>
          <p:nvPr>
            <p:ph type="dt" sz="half" idx="10"/>
          </p:nvPr>
        </p:nvSpPr>
        <p:spPr/>
        <p:txBody>
          <a:bodyPr/>
          <a:lstStyle/>
          <a:p>
            <a:fld id="{9B532F53-AF43-45C2-8ABF-390974D7C0F5}" type="datetimeFigureOut">
              <a:rPr lang="en-US" smtClean="0"/>
              <a:pPr/>
              <a:t>3/21/2026</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51BBC140-3438-4B69-A9E5-DB007F7640C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722313" y="4406900"/>
            <a:ext cx="7772400" cy="1362075"/>
          </a:xfrm>
        </p:spPr>
        <p:txBody>
          <a:bodyPr anchor="t"/>
          <a:lstStyle>
            <a:lvl1pPr algn="l">
              <a:defRPr sz="4000" b="1" cap="all"/>
            </a:lvl1pPr>
          </a:lstStyle>
          <a:p>
            <a:r>
              <a:rPr lang="ar-SA"/>
              <a:t>انقر لتحرير نمط العنوان الرئيسي</a:t>
            </a:r>
            <a:endParaRPr lang="en-US"/>
          </a:p>
        </p:txBody>
      </p:sp>
      <p:sp>
        <p:nvSpPr>
          <p:cNvPr id="3" name="عنصر نائب للنص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النص الرئيسي</a:t>
            </a:r>
          </a:p>
        </p:txBody>
      </p:sp>
      <p:sp>
        <p:nvSpPr>
          <p:cNvPr id="4" name="عنصر نائب للتاريخ 3"/>
          <p:cNvSpPr>
            <a:spLocks noGrp="1"/>
          </p:cNvSpPr>
          <p:nvPr>
            <p:ph type="dt" sz="half" idx="10"/>
          </p:nvPr>
        </p:nvSpPr>
        <p:spPr/>
        <p:txBody>
          <a:bodyPr/>
          <a:lstStyle/>
          <a:p>
            <a:fld id="{9B532F53-AF43-45C2-8ABF-390974D7C0F5}" type="datetimeFigureOut">
              <a:rPr lang="en-US" smtClean="0"/>
              <a:pPr/>
              <a:t>3/21/2026</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51BBC140-3438-4B69-A9E5-DB007F7640C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en-US"/>
          </a:p>
        </p:txBody>
      </p:sp>
      <p:sp>
        <p:nvSpPr>
          <p:cNvPr id="3" name="عنصر نائب للمحتوى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محتوى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5" name="عنصر نائب للتاريخ 4"/>
          <p:cNvSpPr>
            <a:spLocks noGrp="1"/>
          </p:cNvSpPr>
          <p:nvPr>
            <p:ph type="dt" sz="half" idx="10"/>
          </p:nvPr>
        </p:nvSpPr>
        <p:spPr/>
        <p:txBody>
          <a:bodyPr/>
          <a:lstStyle/>
          <a:p>
            <a:fld id="{9B532F53-AF43-45C2-8ABF-390974D7C0F5}" type="datetimeFigureOut">
              <a:rPr lang="en-US" smtClean="0"/>
              <a:pPr/>
              <a:t>3/21/2026</a:t>
            </a:fld>
            <a:endParaRPr lang="en-US"/>
          </a:p>
        </p:txBody>
      </p:sp>
      <p:sp>
        <p:nvSpPr>
          <p:cNvPr id="6" name="عنصر نائب للتذييل 5"/>
          <p:cNvSpPr>
            <a:spLocks noGrp="1"/>
          </p:cNvSpPr>
          <p:nvPr>
            <p:ph type="ftr" sz="quarter" idx="11"/>
          </p:nvPr>
        </p:nvSpPr>
        <p:spPr/>
        <p:txBody>
          <a:bodyPr/>
          <a:lstStyle/>
          <a:p>
            <a:endParaRPr lang="en-US"/>
          </a:p>
        </p:txBody>
      </p:sp>
      <p:sp>
        <p:nvSpPr>
          <p:cNvPr id="7" name="عنصر نائب لرقم الشريحة 6"/>
          <p:cNvSpPr>
            <a:spLocks noGrp="1"/>
          </p:cNvSpPr>
          <p:nvPr>
            <p:ph type="sldNum" sz="quarter" idx="12"/>
          </p:nvPr>
        </p:nvSpPr>
        <p:spPr/>
        <p:txBody>
          <a:bodyPr/>
          <a:lstStyle/>
          <a:p>
            <a:fld id="{51BBC140-3438-4B69-A9E5-DB007F7640C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lvl1pPr>
              <a:defRPr/>
            </a:lvl1pPr>
          </a:lstStyle>
          <a:p>
            <a:r>
              <a:rPr lang="ar-SA"/>
              <a:t>انقر لتحرير نمط العنوان الرئيسي</a:t>
            </a:r>
            <a:endParaRPr lang="en-US"/>
          </a:p>
        </p:txBody>
      </p:sp>
      <p:sp>
        <p:nvSpPr>
          <p:cNvPr id="3" name="عنصر نائب للنص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النص الرئيسي</a:t>
            </a:r>
          </a:p>
        </p:txBody>
      </p:sp>
      <p:sp>
        <p:nvSpPr>
          <p:cNvPr id="4" name="عنصر نائب للمحتوى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5" name="عنصر نائب للنص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النص الرئيسي</a:t>
            </a:r>
          </a:p>
        </p:txBody>
      </p:sp>
      <p:sp>
        <p:nvSpPr>
          <p:cNvPr id="6" name="عنصر نائب للمحتوى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7" name="عنصر نائب للتاريخ 6"/>
          <p:cNvSpPr>
            <a:spLocks noGrp="1"/>
          </p:cNvSpPr>
          <p:nvPr>
            <p:ph type="dt" sz="half" idx="10"/>
          </p:nvPr>
        </p:nvSpPr>
        <p:spPr/>
        <p:txBody>
          <a:bodyPr/>
          <a:lstStyle/>
          <a:p>
            <a:fld id="{9B532F53-AF43-45C2-8ABF-390974D7C0F5}" type="datetimeFigureOut">
              <a:rPr lang="en-US" smtClean="0"/>
              <a:pPr/>
              <a:t>3/21/2026</a:t>
            </a:fld>
            <a:endParaRPr lang="en-US"/>
          </a:p>
        </p:txBody>
      </p:sp>
      <p:sp>
        <p:nvSpPr>
          <p:cNvPr id="8" name="عنصر نائب للتذييل 7"/>
          <p:cNvSpPr>
            <a:spLocks noGrp="1"/>
          </p:cNvSpPr>
          <p:nvPr>
            <p:ph type="ftr" sz="quarter" idx="11"/>
          </p:nvPr>
        </p:nvSpPr>
        <p:spPr/>
        <p:txBody>
          <a:bodyPr/>
          <a:lstStyle/>
          <a:p>
            <a:endParaRPr lang="en-US"/>
          </a:p>
        </p:txBody>
      </p:sp>
      <p:sp>
        <p:nvSpPr>
          <p:cNvPr id="9" name="عنصر نائب لرقم الشريحة 8"/>
          <p:cNvSpPr>
            <a:spLocks noGrp="1"/>
          </p:cNvSpPr>
          <p:nvPr>
            <p:ph type="sldNum" sz="quarter" idx="12"/>
          </p:nvPr>
        </p:nvSpPr>
        <p:spPr/>
        <p:txBody>
          <a:bodyPr/>
          <a:lstStyle/>
          <a:p>
            <a:fld id="{51BBC140-3438-4B69-A9E5-DB007F7640C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en-US"/>
          </a:p>
        </p:txBody>
      </p:sp>
      <p:sp>
        <p:nvSpPr>
          <p:cNvPr id="3" name="عنصر نائب للتاريخ 2"/>
          <p:cNvSpPr>
            <a:spLocks noGrp="1"/>
          </p:cNvSpPr>
          <p:nvPr>
            <p:ph type="dt" sz="half" idx="10"/>
          </p:nvPr>
        </p:nvSpPr>
        <p:spPr/>
        <p:txBody>
          <a:bodyPr/>
          <a:lstStyle/>
          <a:p>
            <a:fld id="{9B532F53-AF43-45C2-8ABF-390974D7C0F5}" type="datetimeFigureOut">
              <a:rPr lang="en-US" smtClean="0"/>
              <a:pPr/>
              <a:t>3/21/2026</a:t>
            </a:fld>
            <a:endParaRPr lang="en-US"/>
          </a:p>
        </p:txBody>
      </p:sp>
      <p:sp>
        <p:nvSpPr>
          <p:cNvPr id="4" name="عنصر نائب للتذييل 3"/>
          <p:cNvSpPr>
            <a:spLocks noGrp="1"/>
          </p:cNvSpPr>
          <p:nvPr>
            <p:ph type="ftr" sz="quarter" idx="11"/>
          </p:nvPr>
        </p:nvSpPr>
        <p:spPr/>
        <p:txBody>
          <a:bodyPr/>
          <a:lstStyle/>
          <a:p>
            <a:endParaRPr lang="en-US"/>
          </a:p>
        </p:txBody>
      </p:sp>
      <p:sp>
        <p:nvSpPr>
          <p:cNvPr id="5" name="عنصر نائب لرقم الشريحة 4"/>
          <p:cNvSpPr>
            <a:spLocks noGrp="1"/>
          </p:cNvSpPr>
          <p:nvPr>
            <p:ph type="sldNum" sz="quarter" idx="12"/>
          </p:nvPr>
        </p:nvSpPr>
        <p:spPr/>
        <p:txBody>
          <a:bodyPr/>
          <a:lstStyle/>
          <a:p>
            <a:fld id="{51BBC140-3438-4B69-A9E5-DB007F7640C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p:cNvSpPr>
            <a:spLocks noGrp="1"/>
          </p:cNvSpPr>
          <p:nvPr>
            <p:ph type="dt" sz="half" idx="10"/>
          </p:nvPr>
        </p:nvSpPr>
        <p:spPr/>
        <p:txBody>
          <a:bodyPr/>
          <a:lstStyle/>
          <a:p>
            <a:fld id="{9B532F53-AF43-45C2-8ABF-390974D7C0F5}" type="datetimeFigureOut">
              <a:rPr lang="en-US" smtClean="0"/>
              <a:pPr/>
              <a:t>3/21/2026</a:t>
            </a:fld>
            <a:endParaRPr lang="en-US"/>
          </a:p>
        </p:txBody>
      </p:sp>
      <p:sp>
        <p:nvSpPr>
          <p:cNvPr id="3" name="عنصر نائب للتذييل 2"/>
          <p:cNvSpPr>
            <a:spLocks noGrp="1"/>
          </p:cNvSpPr>
          <p:nvPr>
            <p:ph type="ftr" sz="quarter" idx="11"/>
          </p:nvPr>
        </p:nvSpPr>
        <p:spPr/>
        <p:txBody>
          <a:bodyPr/>
          <a:lstStyle/>
          <a:p>
            <a:endParaRPr lang="en-US"/>
          </a:p>
        </p:txBody>
      </p:sp>
      <p:sp>
        <p:nvSpPr>
          <p:cNvPr id="4" name="عنصر نائب لرقم الشريحة 3"/>
          <p:cNvSpPr>
            <a:spLocks noGrp="1"/>
          </p:cNvSpPr>
          <p:nvPr>
            <p:ph type="sldNum" sz="quarter" idx="12"/>
          </p:nvPr>
        </p:nvSpPr>
        <p:spPr/>
        <p:txBody>
          <a:bodyPr/>
          <a:lstStyle/>
          <a:p>
            <a:fld id="{51BBC140-3438-4B69-A9E5-DB007F7640C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273050"/>
            <a:ext cx="3008313" cy="1162050"/>
          </a:xfrm>
        </p:spPr>
        <p:txBody>
          <a:bodyPr anchor="b"/>
          <a:lstStyle>
            <a:lvl1pPr algn="l">
              <a:defRPr sz="2000" b="1"/>
            </a:lvl1pPr>
          </a:lstStyle>
          <a:p>
            <a:r>
              <a:rPr lang="ar-SA"/>
              <a:t>انقر لتحرير نمط العنوان الرئيسي</a:t>
            </a:r>
            <a:endParaRPr lang="en-US"/>
          </a:p>
        </p:txBody>
      </p:sp>
      <p:sp>
        <p:nvSpPr>
          <p:cNvPr id="3" name="عنصر نائب للمحتوى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نص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النص الرئيسي</a:t>
            </a:r>
          </a:p>
        </p:txBody>
      </p:sp>
      <p:sp>
        <p:nvSpPr>
          <p:cNvPr id="5" name="عنصر نائب للتاريخ 4"/>
          <p:cNvSpPr>
            <a:spLocks noGrp="1"/>
          </p:cNvSpPr>
          <p:nvPr>
            <p:ph type="dt" sz="half" idx="10"/>
          </p:nvPr>
        </p:nvSpPr>
        <p:spPr/>
        <p:txBody>
          <a:bodyPr/>
          <a:lstStyle/>
          <a:p>
            <a:fld id="{9B532F53-AF43-45C2-8ABF-390974D7C0F5}" type="datetimeFigureOut">
              <a:rPr lang="en-US" smtClean="0"/>
              <a:pPr/>
              <a:t>3/21/2026</a:t>
            </a:fld>
            <a:endParaRPr lang="en-US"/>
          </a:p>
        </p:txBody>
      </p:sp>
      <p:sp>
        <p:nvSpPr>
          <p:cNvPr id="6" name="عنصر نائب للتذييل 5"/>
          <p:cNvSpPr>
            <a:spLocks noGrp="1"/>
          </p:cNvSpPr>
          <p:nvPr>
            <p:ph type="ftr" sz="quarter" idx="11"/>
          </p:nvPr>
        </p:nvSpPr>
        <p:spPr/>
        <p:txBody>
          <a:bodyPr/>
          <a:lstStyle/>
          <a:p>
            <a:endParaRPr lang="en-US"/>
          </a:p>
        </p:txBody>
      </p:sp>
      <p:sp>
        <p:nvSpPr>
          <p:cNvPr id="7" name="عنصر نائب لرقم الشريحة 6"/>
          <p:cNvSpPr>
            <a:spLocks noGrp="1"/>
          </p:cNvSpPr>
          <p:nvPr>
            <p:ph type="sldNum" sz="quarter" idx="12"/>
          </p:nvPr>
        </p:nvSpPr>
        <p:spPr/>
        <p:txBody>
          <a:bodyPr/>
          <a:lstStyle/>
          <a:p>
            <a:fld id="{51BBC140-3438-4B69-A9E5-DB007F7640C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1792288" y="4800600"/>
            <a:ext cx="5486400" cy="566738"/>
          </a:xfrm>
        </p:spPr>
        <p:txBody>
          <a:bodyPr anchor="b"/>
          <a:lstStyle>
            <a:lvl1pPr algn="l">
              <a:defRPr sz="2000" b="1"/>
            </a:lvl1pPr>
          </a:lstStyle>
          <a:p>
            <a:r>
              <a:rPr lang="ar-SA"/>
              <a:t>انقر لتحرير نمط العنوان الرئيسي</a:t>
            </a:r>
            <a:endParaRPr lang="en-US"/>
          </a:p>
        </p:txBody>
      </p:sp>
      <p:sp>
        <p:nvSpPr>
          <p:cNvPr id="3" name="عنصر نائب للصورة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عنصر نائب للنص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النص الرئيسي</a:t>
            </a:r>
          </a:p>
        </p:txBody>
      </p:sp>
      <p:sp>
        <p:nvSpPr>
          <p:cNvPr id="5" name="عنصر نائب للتاريخ 4"/>
          <p:cNvSpPr>
            <a:spLocks noGrp="1"/>
          </p:cNvSpPr>
          <p:nvPr>
            <p:ph type="dt" sz="half" idx="10"/>
          </p:nvPr>
        </p:nvSpPr>
        <p:spPr/>
        <p:txBody>
          <a:bodyPr/>
          <a:lstStyle/>
          <a:p>
            <a:fld id="{9B532F53-AF43-45C2-8ABF-390974D7C0F5}" type="datetimeFigureOut">
              <a:rPr lang="en-US" smtClean="0"/>
              <a:pPr/>
              <a:t>3/21/2026</a:t>
            </a:fld>
            <a:endParaRPr lang="en-US"/>
          </a:p>
        </p:txBody>
      </p:sp>
      <p:sp>
        <p:nvSpPr>
          <p:cNvPr id="6" name="عنصر نائب للتذييل 5"/>
          <p:cNvSpPr>
            <a:spLocks noGrp="1"/>
          </p:cNvSpPr>
          <p:nvPr>
            <p:ph type="ftr" sz="quarter" idx="11"/>
          </p:nvPr>
        </p:nvSpPr>
        <p:spPr/>
        <p:txBody>
          <a:bodyPr/>
          <a:lstStyle/>
          <a:p>
            <a:endParaRPr lang="en-US"/>
          </a:p>
        </p:txBody>
      </p:sp>
      <p:sp>
        <p:nvSpPr>
          <p:cNvPr id="7" name="عنصر نائب لرقم الشريحة 6"/>
          <p:cNvSpPr>
            <a:spLocks noGrp="1"/>
          </p:cNvSpPr>
          <p:nvPr>
            <p:ph type="sldNum" sz="quarter" idx="12"/>
          </p:nvPr>
        </p:nvSpPr>
        <p:spPr/>
        <p:txBody>
          <a:bodyPr/>
          <a:lstStyle/>
          <a:p>
            <a:fld id="{51BBC140-3438-4B69-A9E5-DB007F7640C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en-US"/>
          </a:p>
        </p:txBody>
      </p:sp>
      <p:sp>
        <p:nvSpPr>
          <p:cNvPr id="3" name="عنصر نائب للعنوان العمودي 2"/>
          <p:cNvSpPr>
            <a:spLocks noGrp="1"/>
          </p:cNvSpPr>
          <p:nvPr>
            <p:ph type="body" orient="vert" idx="1"/>
          </p:nvPr>
        </p:nvSpPr>
        <p:spPr/>
        <p:txBody>
          <a:bodyPr vert="eaVert"/>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تاريخ 3"/>
          <p:cNvSpPr>
            <a:spLocks noGrp="1"/>
          </p:cNvSpPr>
          <p:nvPr>
            <p:ph type="dt" sz="half" idx="10"/>
          </p:nvPr>
        </p:nvSpPr>
        <p:spPr/>
        <p:txBody>
          <a:bodyPr/>
          <a:lstStyle/>
          <a:p>
            <a:fld id="{9B532F53-AF43-45C2-8ABF-390974D7C0F5}" type="datetimeFigureOut">
              <a:rPr lang="en-US" smtClean="0"/>
              <a:pPr/>
              <a:t>3/21/2026</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51BBC140-3438-4B69-A9E5-DB007F7640C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6629400" y="274638"/>
            <a:ext cx="2057400" cy="5851525"/>
          </a:xfrm>
        </p:spPr>
        <p:txBody>
          <a:bodyPr vert="eaVert"/>
          <a:lstStyle/>
          <a:p>
            <a:r>
              <a:rPr lang="ar-SA"/>
              <a:t>انقر لتحرير نمط العنوان الرئيسي</a:t>
            </a:r>
            <a:endParaRPr lang="en-US"/>
          </a:p>
        </p:txBody>
      </p:sp>
      <p:sp>
        <p:nvSpPr>
          <p:cNvPr id="3" name="عنصر نائب للعنوان العمودي 2"/>
          <p:cNvSpPr>
            <a:spLocks noGrp="1"/>
          </p:cNvSpPr>
          <p:nvPr>
            <p:ph type="body" orient="vert" idx="1"/>
          </p:nvPr>
        </p:nvSpPr>
        <p:spPr>
          <a:xfrm>
            <a:off x="457200" y="274638"/>
            <a:ext cx="6019800" cy="5851525"/>
          </a:xfrm>
        </p:spPr>
        <p:txBody>
          <a:bodyPr vert="eaVert"/>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تاريخ 3"/>
          <p:cNvSpPr>
            <a:spLocks noGrp="1"/>
          </p:cNvSpPr>
          <p:nvPr>
            <p:ph type="dt" sz="half" idx="10"/>
          </p:nvPr>
        </p:nvSpPr>
        <p:spPr/>
        <p:txBody>
          <a:bodyPr/>
          <a:lstStyle/>
          <a:p>
            <a:fld id="{9B532F53-AF43-45C2-8ABF-390974D7C0F5}" type="datetimeFigureOut">
              <a:rPr lang="en-US" smtClean="0"/>
              <a:pPr/>
              <a:t>3/21/2026</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51BBC140-3438-4B69-A9E5-DB007F7640C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ar-SA"/>
              <a:t>انقر لتحرير نمط العنوان الرئيسي</a:t>
            </a:r>
            <a:endParaRPr lang="en-US"/>
          </a:p>
        </p:txBody>
      </p:sp>
      <p:sp>
        <p:nvSpPr>
          <p:cNvPr id="3" name="عنصر نائب للنص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تاريخ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532F53-AF43-45C2-8ABF-390974D7C0F5}" type="datetimeFigureOut">
              <a:rPr lang="en-US" smtClean="0"/>
              <a:pPr/>
              <a:t>3/21/2026</a:t>
            </a:fld>
            <a:endParaRPr lang="en-US"/>
          </a:p>
        </p:txBody>
      </p:sp>
      <p:sp>
        <p:nvSpPr>
          <p:cNvPr id="5" name="عنصر نائب للتذييل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عنصر نائب لرقم الشريحة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BBC140-3438-4B69-A9E5-DB007F7640C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4.jpe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4.jpe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4.jpe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7.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4.jpeg"/><Relationship Id="rId4"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4.jpe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4.jpe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23.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4.jpe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4.jpeg"/></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4.jpe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4" descr="D:\desk\Department\websites work\April-chemweb\masthead-chemistry.jpg"/>
          <p:cNvPicPr>
            <a:picLocks noChangeAspect="1" noChangeArrowheads="1"/>
          </p:cNvPicPr>
          <p:nvPr/>
        </p:nvPicPr>
        <p:blipFill>
          <a:blip r:embed="rId2"/>
          <a:srcRect/>
          <a:stretch>
            <a:fillRect/>
          </a:stretch>
        </p:blipFill>
        <p:spPr bwMode="auto">
          <a:xfrm>
            <a:off x="-36512" y="1700808"/>
            <a:ext cx="9144000" cy="2895600"/>
          </a:xfrm>
          <a:prstGeom prst="rect">
            <a:avLst/>
          </a:prstGeom>
          <a:noFill/>
          <a:ln w="9525">
            <a:noFill/>
            <a:miter lim="800000"/>
            <a:headEnd/>
            <a:tailEnd/>
          </a:ln>
        </p:spPr>
      </p:pic>
      <p:sp>
        <p:nvSpPr>
          <p:cNvPr id="2056" name="TextBox 12"/>
          <p:cNvSpPr txBox="1">
            <a:spLocks noChangeArrowheads="1"/>
          </p:cNvSpPr>
          <p:nvPr/>
        </p:nvSpPr>
        <p:spPr bwMode="auto">
          <a:xfrm>
            <a:off x="467544" y="2357430"/>
            <a:ext cx="8780307" cy="1446550"/>
          </a:xfrm>
          <a:prstGeom prst="rect">
            <a:avLst/>
          </a:prstGeom>
          <a:noFill/>
          <a:ln w="9525">
            <a:noFill/>
            <a:miter lim="800000"/>
            <a:headEnd/>
            <a:tailEnd/>
          </a:ln>
        </p:spPr>
        <p:txBody>
          <a:bodyPr wrap="square">
            <a:spAutoFit/>
          </a:bodyPr>
          <a:lstStyle/>
          <a:p>
            <a:pPr algn="ctr"/>
            <a:r>
              <a:rPr lang="en-US" sz="4400" b="1" dirty="0" err="1" smtClean="0">
                <a:solidFill>
                  <a:schemeClr val="bg1"/>
                </a:solidFill>
              </a:rPr>
              <a:t>Lec</a:t>
            </a:r>
            <a:r>
              <a:rPr lang="en-US" sz="4400" b="1" dirty="0" smtClean="0">
                <a:solidFill>
                  <a:schemeClr val="bg1"/>
                </a:solidFill>
              </a:rPr>
              <a:t>(6):</a:t>
            </a:r>
            <a:r>
              <a:rPr lang="en-US" sz="4400" b="1" dirty="0" smtClean="0">
                <a:solidFill>
                  <a:schemeClr val="bg1"/>
                </a:solidFill>
              </a:rPr>
              <a:t>Valence </a:t>
            </a:r>
            <a:r>
              <a:rPr lang="en-US" sz="4400" b="1" dirty="0">
                <a:solidFill>
                  <a:schemeClr val="bg1"/>
                </a:solidFill>
              </a:rPr>
              <a:t>Shell Electron-Pairs </a:t>
            </a:r>
          </a:p>
          <a:p>
            <a:pPr algn="ctr"/>
            <a:r>
              <a:rPr lang="en-US" sz="4400" b="1" dirty="0">
                <a:solidFill>
                  <a:schemeClr val="bg1"/>
                </a:solidFill>
              </a:rPr>
              <a:t>Repulsion Theory “VSEPR”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685800"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153400" y="6057900"/>
            <a:ext cx="381000" cy="647700"/>
          </a:xfrm>
          <a:prstGeom prst="rect">
            <a:avLst/>
          </a:prstGeom>
          <a:noFill/>
          <a:ln w="9525">
            <a:noFill/>
            <a:miter lim="800000"/>
            <a:headEnd/>
            <a:tailEnd/>
          </a:ln>
        </p:spPr>
        <p:txBody>
          <a:bodyPr>
            <a:spAutoFit/>
          </a:bodyPr>
          <a:lstStyle/>
          <a:p>
            <a:r>
              <a:rPr lang="en-US" sz="3600" dirty="0">
                <a:latin typeface="Adobe Gothic Std B"/>
                <a:ea typeface="Adobe Gothic Std B"/>
                <a:cs typeface="Adobe Gothic Std B"/>
              </a:rPr>
              <a:t>1</a:t>
            </a:r>
            <a:endParaRPr lang="ar-SA" sz="3600" dirty="0">
              <a:latin typeface="Adobe Gothic Std B"/>
              <a:ea typeface="Adobe Gothic Std B"/>
              <a:cs typeface="Adobe Gothic Std B"/>
            </a:endParaRPr>
          </a:p>
        </p:txBody>
      </p:sp>
      <p:sp>
        <p:nvSpPr>
          <p:cNvPr id="21" name="AutoShape 35"/>
          <p:cNvSpPr>
            <a:spLocks noChangeArrowheads="1"/>
          </p:cNvSpPr>
          <p:nvPr/>
        </p:nvSpPr>
        <p:spPr bwMode="auto">
          <a:xfrm>
            <a:off x="0" y="571480"/>
            <a:ext cx="9144000" cy="1181120"/>
          </a:xfrm>
          <a:prstGeom prst="flowChartAlternateProcess">
            <a:avLst/>
          </a:prstGeom>
          <a:solidFill>
            <a:srgbClr val="FFFF00"/>
          </a:solidFill>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lvl="0" algn="ctr">
              <a:lnSpc>
                <a:spcPct val="150000"/>
              </a:lnSpc>
              <a:defRPr/>
            </a:pPr>
            <a:r>
              <a:rPr lang="en-US" sz="2800" b="1" dirty="0">
                <a:solidFill>
                  <a:srgbClr val="FF0000"/>
                </a:solidFill>
                <a:latin typeface="Times New Roman" pitchFamily="18" charset="0"/>
                <a:cs typeface="Times New Roman" pitchFamily="18" charset="0"/>
              </a:rPr>
              <a:t>Molecular Geometry and Chemical Bonding Theories</a:t>
            </a:r>
          </a:p>
          <a:p>
            <a:pPr algn="ctr">
              <a:lnSpc>
                <a:spcPct val="150000"/>
              </a:lnSpc>
              <a:defRPr/>
            </a:pPr>
            <a:r>
              <a:rPr lang="en-US" sz="2800" b="1" dirty="0">
                <a:solidFill>
                  <a:srgbClr val="FF0000"/>
                </a:solidFill>
                <a:latin typeface="Times New Roman" pitchFamily="18" charset="0"/>
                <a:cs typeface="Times New Roman" pitchFamily="18" charset="0"/>
              </a:rPr>
              <a:t>Valence Shell Electron-Pairs Repulsion Theory </a:t>
            </a:r>
            <a:r>
              <a:rPr lang="en-US" sz="2800" b="1" dirty="0">
                <a:solidFill>
                  <a:srgbClr val="FF0000"/>
                </a:solidFill>
                <a:latin typeface="Times New Roman" pitchFamily="18" charset="0"/>
              </a:rPr>
              <a:t>“</a:t>
            </a:r>
            <a:r>
              <a:rPr lang="en-US" sz="2800" b="1" dirty="0">
                <a:latin typeface="Times New Roman" pitchFamily="18" charset="0"/>
              </a:rPr>
              <a:t>VSEPR</a:t>
            </a:r>
            <a:r>
              <a:rPr lang="en-US" sz="2800" b="1" dirty="0">
                <a:solidFill>
                  <a:srgbClr val="FF0000"/>
                </a:solidFill>
                <a:latin typeface="Times New Roman" pitchFamily="18" charset="0"/>
              </a:rPr>
              <a:t>”</a:t>
            </a:r>
            <a:endParaRPr lang="en-US" sz="2800" b="1" dirty="0">
              <a:solidFill>
                <a:srgbClr val="FF0000"/>
              </a:solidFill>
              <a:latin typeface="Times New Roman" pitchFamily="18" charset="0"/>
              <a:cs typeface="Times New Roman" pitchFamily="18" charset="0"/>
            </a:endParaRPr>
          </a:p>
        </p:txBody>
      </p:sp>
      <p:sp>
        <p:nvSpPr>
          <p:cNvPr id="23" name="Rectangle 3"/>
          <p:cNvSpPr txBox="1">
            <a:spLocks noChangeArrowheads="1"/>
          </p:cNvSpPr>
          <p:nvPr/>
        </p:nvSpPr>
        <p:spPr>
          <a:xfrm>
            <a:off x="0" y="1928802"/>
            <a:ext cx="9144000" cy="3614750"/>
          </a:xfrm>
          <a:prstGeom prst="rect">
            <a:avLst/>
          </a:prstGeom>
        </p:spPr>
        <p:txBody>
          <a:bodyPr vert="horz">
            <a:noAutofit/>
          </a:bodyPr>
          <a:lstStyle/>
          <a:p>
            <a:pPr marL="365760" indent="-256032" algn="just" fontAlgn="auto">
              <a:spcBef>
                <a:spcPts val="400"/>
              </a:spcBef>
              <a:spcAft>
                <a:spcPts val="0"/>
              </a:spcAft>
              <a:buClr>
                <a:schemeClr val="accent1"/>
              </a:buClr>
              <a:buSzPct val="68000"/>
              <a:buFont typeface="Wingdings 3"/>
              <a:buChar char=""/>
            </a:pPr>
            <a:r>
              <a:rPr lang="tr-TR" sz="2800" b="1" dirty="0">
                <a:solidFill>
                  <a:srgbClr val="000099"/>
                </a:solidFill>
                <a:latin typeface="Times New Roman" pitchFamily="18" charset="0"/>
                <a:cs typeface="Times New Roman" pitchFamily="18" charset="0"/>
              </a:rPr>
              <a:t>It is  a method for predicting the shape of a molecule from the knowledge of the groups of electrons around a central atom. </a:t>
            </a:r>
          </a:p>
          <a:p>
            <a:pPr marL="365760" marR="0" lvl="0" indent="-256032" algn="just" defTabSz="914400" eaLnBrk="1" fontAlgn="auto" latinLnBrk="0" hangingPunct="1">
              <a:spcBef>
                <a:spcPts val="400"/>
              </a:spcBef>
              <a:spcAft>
                <a:spcPts val="0"/>
              </a:spcAft>
              <a:buClr>
                <a:schemeClr val="accent1"/>
              </a:buClr>
              <a:buSzPct val="68000"/>
              <a:buFont typeface="Wingdings 3"/>
              <a:buChar char=""/>
              <a:tabLst/>
              <a:defRPr/>
            </a:pPr>
            <a:r>
              <a:rPr kumimoji="0" lang="en-US" sz="28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VSEPR is revolves  around the principle that electrons repel each other.</a:t>
            </a:r>
          </a:p>
          <a:p>
            <a:pPr marL="365760" marR="0" lvl="0" indent="-256032" algn="just" defTabSz="914400" eaLnBrk="1" fontAlgn="auto" latinLnBrk="0" hangingPunct="1">
              <a:spcBef>
                <a:spcPts val="400"/>
              </a:spcBef>
              <a:spcAft>
                <a:spcPts val="0"/>
              </a:spcAft>
              <a:buClr>
                <a:schemeClr val="accent1"/>
              </a:buClr>
              <a:buSzPct val="68000"/>
              <a:buFont typeface="Wingdings 3"/>
              <a:buChar char=""/>
              <a:tabLst/>
              <a:defRPr/>
            </a:pPr>
            <a:r>
              <a:rPr kumimoji="0" lang="en-US" sz="2800" b="1" i="0" strike="noStrike" kern="1200" cap="none" spc="0" normalizeH="0" baseline="0" noProof="0" dirty="0">
                <a:ln>
                  <a:noFill/>
                </a:ln>
                <a:solidFill>
                  <a:srgbClr val="CC0066"/>
                </a:solidFill>
                <a:effectLst/>
                <a:uLnTx/>
                <a:uFillTx/>
                <a:latin typeface="Times New Roman" pitchFamily="18" charset="0"/>
                <a:cs typeface="Times New Roman" pitchFamily="18" charset="0"/>
              </a:rPr>
              <a:t>One can predict the shape of a molecule by finding a pattern where electron pairs are as far from each other as possible.</a:t>
            </a:r>
            <a:endParaRPr kumimoji="0" lang="en-US" sz="2800" b="1"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685800"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153400" y="6057900"/>
            <a:ext cx="381000" cy="647700"/>
          </a:xfrm>
          <a:prstGeom prst="rect">
            <a:avLst/>
          </a:prstGeom>
          <a:noFill/>
          <a:ln w="9525">
            <a:noFill/>
            <a:miter lim="800000"/>
            <a:headEnd/>
            <a:tailEnd/>
          </a:ln>
        </p:spPr>
        <p:txBody>
          <a:bodyPr>
            <a:spAutoFit/>
          </a:bodyPr>
          <a:lstStyle/>
          <a:p>
            <a:r>
              <a:rPr lang="en-US" sz="3600" dirty="0">
                <a:latin typeface="Adobe Gothic Std B"/>
                <a:ea typeface="Adobe Gothic Std B"/>
                <a:cs typeface="Adobe Gothic Std B"/>
              </a:rPr>
              <a:t>2</a:t>
            </a:r>
            <a:endParaRPr lang="ar-SA" sz="3600" dirty="0">
              <a:latin typeface="Adobe Gothic Std B"/>
              <a:ea typeface="Adobe Gothic Std B"/>
              <a:cs typeface="Adobe Gothic Std B"/>
            </a:endParaRPr>
          </a:p>
        </p:txBody>
      </p:sp>
      <p:sp>
        <p:nvSpPr>
          <p:cNvPr id="24" name="Rectangle 23"/>
          <p:cNvSpPr/>
          <p:nvPr/>
        </p:nvSpPr>
        <p:spPr>
          <a:xfrm>
            <a:off x="0" y="609600"/>
            <a:ext cx="9144000" cy="2000548"/>
          </a:xfrm>
          <a:prstGeom prst="rect">
            <a:avLst/>
          </a:prstGeom>
        </p:spPr>
        <p:txBody>
          <a:bodyPr wrap="square">
            <a:spAutoFit/>
          </a:bodyPr>
          <a:lstStyle/>
          <a:p>
            <a:pPr marL="360363" indent="-360363" algn="just">
              <a:buFont typeface="Wingdings" pitchFamily="2" charset="2"/>
              <a:buChar char="Ø"/>
            </a:pPr>
            <a:r>
              <a:rPr lang="en-US" sz="3200" b="1" dirty="0">
                <a:solidFill>
                  <a:srgbClr val="FF0000"/>
                </a:solidFill>
                <a:latin typeface="Times New Roman" pitchFamily="18" charset="0"/>
              </a:rPr>
              <a:t>The shape of a molecule</a:t>
            </a:r>
            <a:r>
              <a:rPr lang="en-US" sz="2800" b="1" dirty="0">
                <a:solidFill>
                  <a:srgbClr val="CC0066"/>
                </a:solidFill>
                <a:latin typeface="Times New Roman" pitchFamily="18" charset="0"/>
              </a:rPr>
              <a:t> has an important bearing on its  reactivity and behavior.</a:t>
            </a:r>
          </a:p>
          <a:p>
            <a:pPr marL="360363" indent="-360363" algn="just">
              <a:buFont typeface="Wingdings" pitchFamily="2" charset="2"/>
              <a:buChar char="Ø"/>
            </a:pPr>
            <a:endParaRPr lang="en-US" sz="800" b="1" dirty="0">
              <a:latin typeface="Times New Roman" pitchFamily="18" charset="0"/>
              <a:cs typeface="Times New Roman" pitchFamily="18" charset="0"/>
            </a:endParaRPr>
          </a:p>
          <a:p>
            <a:pPr marL="360363" indent="-360363" algn="just">
              <a:buFont typeface="Wingdings" pitchFamily="2" charset="2"/>
              <a:buChar char="Ø"/>
            </a:pPr>
            <a:r>
              <a:rPr lang="en-US" sz="2800" b="1" dirty="0">
                <a:latin typeface="Times New Roman" pitchFamily="18" charset="0"/>
                <a:cs typeface="Times New Roman" pitchFamily="18" charset="0"/>
              </a:rPr>
              <a:t>The shape of a molecule depends on a number of  factors.  These include:</a:t>
            </a:r>
          </a:p>
        </p:txBody>
      </p:sp>
      <p:sp>
        <p:nvSpPr>
          <p:cNvPr id="25" name="Text Box 4"/>
          <p:cNvSpPr txBox="1">
            <a:spLocks noChangeArrowheads="1"/>
          </p:cNvSpPr>
          <p:nvPr/>
        </p:nvSpPr>
        <p:spPr bwMode="auto">
          <a:xfrm>
            <a:off x="4527529" y="2285992"/>
            <a:ext cx="4616471" cy="1384995"/>
          </a:xfrm>
          <a:prstGeom prst="rect">
            <a:avLst/>
          </a:prstGeom>
          <a:noFill/>
          <a:ln w="9525">
            <a:noFill/>
            <a:miter lim="800000"/>
            <a:headEnd/>
            <a:tailEnd/>
          </a:ln>
          <a:effectLst/>
        </p:spPr>
        <p:txBody>
          <a:bodyPr wrap="square">
            <a:spAutoFit/>
          </a:bodyPr>
          <a:lstStyle/>
          <a:p>
            <a:pPr marL="457200" indent="-457200">
              <a:buFontTx/>
              <a:buAutoNum type="arabicPeriod"/>
            </a:pPr>
            <a:r>
              <a:rPr lang="en-US" sz="2800" b="1" dirty="0">
                <a:solidFill>
                  <a:srgbClr val="000099"/>
                </a:solidFill>
                <a:latin typeface="Times New Roman" pitchFamily="18" charset="0"/>
                <a:cs typeface="Times New Roman" pitchFamily="18" charset="0"/>
              </a:rPr>
              <a:t>Atoms forming the bonds</a:t>
            </a:r>
          </a:p>
          <a:p>
            <a:pPr marL="457200" indent="-457200">
              <a:buFontTx/>
              <a:buAutoNum type="arabicPeriod"/>
            </a:pPr>
            <a:r>
              <a:rPr lang="en-US" sz="2800" b="1" dirty="0">
                <a:solidFill>
                  <a:srgbClr val="000099"/>
                </a:solidFill>
                <a:latin typeface="Times New Roman" pitchFamily="18" charset="0"/>
                <a:cs typeface="Times New Roman" pitchFamily="18" charset="0"/>
              </a:rPr>
              <a:t>Bond distance </a:t>
            </a:r>
          </a:p>
          <a:p>
            <a:pPr marL="457200" indent="-457200">
              <a:buFontTx/>
              <a:buAutoNum type="arabicPeriod"/>
            </a:pPr>
            <a:r>
              <a:rPr lang="en-US" sz="2800" b="1" dirty="0">
                <a:solidFill>
                  <a:srgbClr val="000099"/>
                </a:solidFill>
                <a:latin typeface="Times New Roman" pitchFamily="18" charset="0"/>
                <a:cs typeface="Times New Roman" pitchFamily="18" charset="0"/>
              </a:rPr>
              <a:t>Bond angles.</a:t>
            </a:r>
            <a:endParaRPr lang="en-US" sz="2800" b="1" dirty="0">
              <a:latin typeface="Times New Roman" pitchFamily="18" charset="0"/>
            </a:endParaRPr>
          </a:p>
        </p:txBody>
      </p:sp>
      <p:pic>
        <p:nvPicPr>
          <p:cNvPr id="26" name="Picture 4"/>
          <p:cNvPicPr>
            <a:picLocks noChangeAspect="1" noChangeArrowheads="1"/>
          </p:cNvPicPr>
          <p:nvPr/>
        </p:nvPicPr>
        <p:blipFill>
          <a:blip r:embed="rId5"/>
          <a:srcRect/>
          <a:stretch>
            <a:fillRect/>
          </a:stretch>
        </p:blipFill>
        <p:spPr bwMode="auto">
          <a:xfrm>
            <a:off x="1115615" y="3771442"/>
            <a:ext cx="6689465" cy="2071702"/>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685800"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153400" y="6057900"/>
            <a:ext cx="381000" cy="647700"/>
          </a:xfrm>
          <a:prstGeom prst="rect">
            <a:avLst/>
          </a:prstGeom>
          <a:noFill/>
          <a:ln w="9525">
            <a:noFill/>
            <a:miter lim="800000"/>
            <a:headEnd/>
            <a:tailEnd/>
          </a:ln>
        </p:spPr>
        <p:txBody>
          <a:bodyPr>
            <a:spAutoFit/>
          </a:bodyPr>
          <a:lstStyle/>
          <a:p>
            <a:r>
              <a:rPr lang="en-US" sz="3600" dirty="0">
                <a:latin typeface="Adobe Gothic Std B"/>
                <a:ea typeface="Adobe Gothic Std B"/>
                <a:cs typeface="Adobe Gothic Std B"/>
              </a:rPr>
              <a:t>3</a:t>
            </a:r>
            <a:endParaRPr lang="ar-SA" sz="3600" dirty="0">
              <a:latin typeface="Adobe Gothic Std B"/>
              <a:ea typeface="Adobe Gothic Std B"/>
              <a:cs typeface="Adobe Gothic Std B"/>
            </a:endParaRPr>
          </a:p>
        </p:txBody>
      </p:sp>
      <p:sp>
        <p:nvSpPr>
          <p:cNvPr id="43" name="Rectangle 42"/>
          <p:cNvSpPr>
            <a:spLocks noChangeArrowheads="1"/>
          </p:cNvSpPr>
          <p:nvPr/>
        </p:nvSpPr>
        <p:spPr bwMode="auto">
          <a:xfrm>
            <a:off x="642910" y="571480"/>
            <a:ext cx="8153400" cy="584775"/>
          </a:xfrm>
          <a:prstGeom prst="rect">
            <a:avLst/>
          </a:prstGeom>
          <a:solidFill>
            <a:schemeClr val="accent5">
              <a:lumMod val="40000"/>
              <a:lumOff val="60000"/>
            </a:schemeClr>
          </a:solidFill>
          <a:ln w="9525">
            <a:solidFill>
              <a:schemeClr val="tx2">
                <a:lumMod val="60000"/>
                <a:lumOff val="40000"/>
              </a:schemeClr>
            </a:solidFill>
            <a:miter lim="800000"/>
            <a:headEnd/>
            <a:tailEnd/>
          </a:ln>
          <a:effectLst>
            <a:glow rad="228600">
              <a:schemeClr val="accent5">
                <a:satMod val="175000"/>
                <a:alpha val="40000"/>
              </a:schemeClr>
            </a:glow>
            <a:innerShdw blurRad="114300">
              <a:prstClr val="black"/>
            </a:innerShdw>
          </a:effectLst>
        </p:spPr>
        <p:txBody>
          <a:bodyPr wrap="square">
            <a:spAutoFit/>
          </a:bodyPr>
          <a:lstStyle/>
          <a:p>
            <a:pPr algn="ctr"/>
            <a:r>
              <a:rPr lang="en-US" sz="3200" b="1" dirty="0">
                <a:solidFill>
                  <a:srgbClr val="CC0066"/>
                </a:solidFill>
                <a:latin typeface="Arial Rounded MT Bold" pitchFamily="34" charset="0"/>
              </a:rPr>
              <a:t>Bonding Electrons and Lone Pairs</a:t>
            </a:r>
            <a:endParaRPr lang="ar-EG" sz="3200" b="1" i="1" dirty="0">
              <a:solidFill>
                <a:srgbClr val="CC0066"/>
              </a:solidFill>
              <a:latin typeface="Times New Roman" pitchFamily="18" charset="0"/>
            </a:endParaRPr>
          </a:p>
        </p:txBody>
      </p:sp>
      <p:pic>
        <p:nvPicPr>
          <p:cNvPr id="44" name="Picture 6"/>
          <p:cNvPicPr>
            <a:picLocks noChangeAspect="1" noChangeArrowheads="1"/>
          </p:cNvPicPr>
          <p:nvPr/>
        </p:nvPicPr>
        <p:blipFill>
          <a:blip r:embed="rId5"/>
          <a:srcRect/>
          <a:stretch>
            <a:fillRect/>
          </a:stretch>
        </p:blipFill>
        <p:spPr bwMode="auto">
          <a:xfrm>
            <a:off x="5940152" y="2175972"/>
            <a:ext cx="3203848" cy="3125236"/>
          </a:xfrm>
          <a:prstGeom prst="rect">
            <a:avLst/>
          </a:prstGeom>
          <a:solidFill>
            <a:schemeClr val="accent5">
              <a:lumMod val="20000"/>
              <a:lumOff val="80000"/>
            </a:schemeClr>
          </a:solidFill>
          <a:ln w="25400">
            <a:solidFill>
              <a:srgbClr val="C00000"/>
            </a:solidFill>
          </a:ln>
        </p:spPr>
      </p:pic>
      <p:sp>
        <p:nvSpPr>
          <p:cNvPr id="45" name="Rectangle 3"/>
          <p:cNvSpPr txBox="1">
            <a:spLocks noChangeArrowheads="1"/>
          </p:cNvSpPr>
          <p:nvPr/>
        </p:nvSpPr>
        <p:spPr>
          <a:xfrm>
            <a:off x="0" y="1281098"/>
            <a:ext cx="5486400" cy="4662502"/>
          </a:xfrm>
          <a:prstGeom prst="rect">
            <a:avLst/>
          </a:prstGeom>
        </p:spPr>
        <p:txBody>
          <a:bodyPr/>
          <a:lstStyle/>
          <a:p>
            <a:pPr marL="274320" marR="0" lvl="0" indent="-274320" algn="just" defTabSz="914400" eaLnBrk="1" fontAlgn="auto" latinLnBrk="0" hangingPunct="1">
              <a:spcBef>
                <a:spcPct val="20000"/>
              </a:spcBef>
              <a:spcAft>
                <a:spcPts val="0"/>
              </a:spcAft>
              <a:buClr>
                <a:schemeClr val="accent3"/>
              </a:buClr>
              <a:buSzPct val="95000"/>
              <a:buFont typeface="Wingdings 2"/>
              <a:buChar char=""/>
              <a:tabLst/>
              <a:defRPr/>
            </a:pPr>
            <a:r>
              <a:rPr kumimoji="0" lang="en-US" sz="24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In a molecule some of the valence electrons are shared between atoms to form covalent bonds.  These are called </a:t>
            </a:r>
            <a:r>
              <a:rPr kumimoji="0" lang="en-US" sz="2800" b="1" i="0" u="none" strike="noStrike" kern="1200" cap="none" spc="0" normalizeH="0" baseline="0" noProof="0" dirty="0">
                <a:ln>
                  <a:noFill/>
                </a:ln>
                <a:solidFill>
                  <a:srgbClr val="000099"/>
                </a:solidFill>
                <a:effectLst/>
                <a:uLnTx/>
                <a:uFillTx/>
                <a:latin typeface="Times New Roman" pitchFamily="18" charset="0"/>
                <a:cs typeface="Times New Roman" pitchFamily="18" charset="0"/>
              </a:rPr>
              <a:t>bonding electrons</a:t>
            </a:r>
            <a:r>
              <a:rPr kumimoji="0" lang="en-US" sz="2800" b="1" i="0" u="none" strike="noStrike" kern="1200" cap="none" spc="0" normalizeH="0" baseline="0" noProof="0" dirty="0">
                <a:ln>
                  <a:noFill/>
                </a:ln>
                <a:solidFill>
                  <a:srgbClr val="FFFF99"/>
                </a:solidFill>
                <a:effectLst/>
                <a:uLnTx/>
                <a:uFillTx/>
                <a:latin typeface="Times New Roman" pitchFamily="18" charset="0"/>
                <a:cs typeface="Times New Roman" pitchFamily="18" charset="0"/>
              </a:rPr>
              <a:t>.</a:t>
            </a:r>
          </a:p>
          <a:p>
            <a:pPr marL="274320" marR="0" lvl="0" indent="-274320" algn="just" defTabSz="914400" eaLnBrk="1" fontAlgn="auto" latinLnBrk="0" hangingPunct="1">
              <a:lnSpc>
                <a:spcPct val="150000"/>
              </a:lnSpc>
              <a:spcBef>
                <a:spcPct val="20000"/>
              </a:spcBef>
              <a:spcAft>
                <a:spcPts val="0"/>
              </a:spcAft>
              <a:buClr>
                <a:schemeClr val="accent3"/>
              </a:buClr>
              <a:buSzPct val="95000"/>
              <a:buFont typeface="Wingdings 2"/>
              <a:buChar char=""/>
              <a:tabLst/>
              <a:defRPr/>
            </a:pPr>
            <a:r>
              <a:rPr kumimoji="0" lang="en-US" sz="24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Other valence electrons may not be shared with other atoms.  These are called </a:t>
            </a:r>
            <a:r>
              <a:rPr kumimoji="0" lang="en-US" sz="2800" b="1" i="0" u="none" strike="noStrike" kern="1200" cap="none" spc="0" normalizeH="0" baseline="0" noProof="0" dirty="0">
                <a:ln>
                  <a:noFill/>
                </a:ln>
                <a:solidFill>
                  <a:srgbClr val="000099"/>
                </a:solidFill>
                <a:effectLst/>
                <a:uLnTx/>
                <a:uFillTx/>
                <a:latin typeface="Times New Roman" pitchFamily="18" charset="0"/>
                <a:cs typeface="Times New Roman" pitchFamily="18" charset="0"/>
              </a:rPr>
              <a:t>non-bonding electrons</a:t>
            </a:r>
            <a:r>
              <a:rPr kumimoji="0" lang="en-US" sz="2400" b="1" i="0" u="none" strike="noStrike" kern="1200" cap="none" spc="0" normalizeH="0" baseline="0" noProof="0" dirty="0">
                <a:ln>
                  <a:noFill/>
                </a:ln>
                <a:solidFill>
                  <a:srgbClr val="000099"/>
                </a:solidFill>
                <a:effectLst/>
                <a:uLnTx/>
                <a:uFillTx/>
                <a:latin typeface="Times New Roman" pitchFamily="18" charset="0"/>
                <a:cs typeface="Times New Roman" pitchFamily="18" charset="0"/>
              </a:rPr>
              <a:t> </a:t>
            </a:r>
            <a:r>
              <a:rPr kumimoji="0" lang="en-US" sz="24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or they are often referred to as </a:t>
            </a:r>
            <a:r>
              <a:rPr kumimoji="0" lang="en-US" sz="2800" b="1" i="0" u="none" strike="noStrike" kern="1200" cap="none" spc="0" normalizeH="0" baseline="0" noProof="0" dirty="0">
                <a:ln>
                  <a:noFill/>
                </a:ln>
                <a:solidFill>
                  <a:srgbClr val="000099"/>
                </a:solidFill>
                <a:effectLst/>
                <a:uLnTx/>
                <a:uFillTx/>
                <a:latin typeface="Times New Roman" pitchFamily="18" charset="0"/>
                <a:cs typeface="Times New Roman" pitchFamily="18" charset="0"/>
              </a:rPr>
              <a:t>lone pairs.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685800"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153400" y="6057900"/>
            <a:ext cx="381000" cy="647700"/>
          </a:xfrm>
          <a:prstGeom prst="rect">
            <a:avLst/>
          </a:prstGeom>
          <a:noFill/>
          <a:ln w="9525">
            <a:noFill/>
            <a:miter lim="800000"/>
            <a:headEnd/>
            <a:tailEnd/>
          </a:ln>
        </p:spPr>
        <p:txBody>
          <a:bodyPr>
            <a:spAutoFit/>
          </a:bodyPr>
          <a:lstStyle/>
          <a:p>
            <a:r>
              <a:rPr lang="en-US" sz="3600" dirty="0">
                <a:latin typeface="Adobe Gothic Std B"/>
                <a:ea typeface="Adobe Gothic Std B"/>
                <a:cs typeface="Adobe Gothic Std B"/>
              </a:rPr>
              <a:t>4</a:t>
            </a:r>
            <a:endParaRPr lang="ar-SA" sz="3600" dirty="0">
              <a:latin typeface="Adobe Gothic Std B"/>
              <a:ea typeface="Adobe Gothic Std B"/>
              <a:cs typeface="Adobe Gothic Std B"/>
            </a:endParaRPr>
          </a:p>
        </p:txBody>
      </p:sp>
      <p:sp>
        <p:nvSpPr>
          <p:cNvPr id="20" name="Rectangle 19"/>
          <p:cNvSpPr>
            <a:spLocks noChangeArrowheads="1"/>
          </p:cNvSpPr>
          <p:nvPr/>
        </p:nvSpPr>
        <p:spPr bwMode="auto">
          <a:xfrm>
            <a:off x="857224" y="642918"/>
            <a:ext cx="4495800" cy="584775"/>
          </a:xfrm>
          <a:prstGeom prst="rect">
            <a:avLst/>
          </a:prstGeom>
          <a:solidFill>
            <a:srgbClr val="FFFF00">
              <a:alpha val="99000"/>
            </a:srgbClr>
          </a:solidFill>
          <a:ln w="9525">
            <a:solidFill>
              <a:schemeClr val="tx2">
                <a:lumMod val="60000"/>
                <a:lumOff val="40000"/>
              </a:schemeClr>
            </a:solidFill>
            <a:miter lim="800000"/>
            <a:headEnd/>
            <a:tailEnd/>
          </a:ln>
          <a:effectLst>
            <a:glow rad="228600">
              <a:schemeClr val="accent5">
                <a:satMod val="175000"/>
                <a:alpha val="40000"/>
              </a:schemeClr>
            </a:glow>
            <a:innerShdw blurRad="114300">
              <a:prstClr val="black"/>
            </a:innerShdw>
          </a:effectLst>
        </p:spPr>
        <p:txBody>
          <a:bodyPr wrap="square">
            <a:spAutoFit/>
          </a:bodyPr>
          <a:lstStyle/>
          <a:p>
            <a:pPr algn="ctr"/>
            <a:r>
              <a:rPr lang="en-US" sz="3200" b="1" dirty="0">
                <a:solidFill>
                  <a:srgbClr val="000099"/>
                </a:solidFill>
                <a:latin typeface="Arial Rounded MT Bold" pitchFamily="34" charset="0"/>
              </a:rPr>
              <a:t>VSEPR</a:t>
            </a:r>
            <a:endParaRPr lang="en-US" sz="3200" b="1" dirty="0">
              <a:solidFill>
                <a:srgbClr val="000099"/>
              </a:solidFill>
              <a:latin typeface="Times New Roman" pitchFamily="18" charset="0"/>
            </a:endParaRPr>
          </a:p>
        </p:txBody>
      </p:sp>
      <p:sp>
        <p:nvSpPr>
          <p:cNvPr id="23" name="Rectangle 3"/>
          <p:cNvSpPr txBox="1">
            <a:spLocks noChangeArrowheads="1"/>
          </p:cNvSpPr>
          <p:nvPr/>
        </p:nvSpPr>
        <p:spPr>
          <a:xfrm>
            <a:off x="0" y="1357298"/>
            <a:ext cx="6248400" cy="4162436"/>
          </a:xfrm>
          <a:prstGeom prst="rect">
            <a:avLst/>
          </a:prstGeom>
        </p:spPr>
        <p:txBody>
          <a:bodyPr/>
          <a:lstStyle/>
          <a:p>
            <a:pPr marL="338138" marR="0" lvl="0" indent="-338138" algn="l" defTabSz="914400" eaLnBrk="1" fontAlgn="auto" latinLnBrk="0" hangingPunct="1">
              <a:spcBef>
                <a:spcPts val="0"/>
              </a:spcBef>
              <a:spcAft>
                <a:spcPts val="0"/>
              </a:spcAft>
              <a:buClr>
                <a:schemeClr val="accent3"/>
              </a:buClr>
              <a:buSzPct val="95000"/>
              <a:buFont typeface="Wingdings 2"/>
              <a:buChar char=""/>
              <a:tabLst/>
              <a:defRPr/>
            </a:pPr>
            <a:r>
              <a:rPr kumimoji="0" lang="en-US" sz="28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In all covalent molecules, electrons will tend to stay as far away from each other as possible</a:t>
            </a:r>
          </a:p>
          <a:p>
            <a:pPr marL="338138" marR="0" lvl="0" indent="-338138" algn="l" defTabSz="914400" eaLnBrk="1" fontAlgn="auto" latinLnBrk="0" hangingPunct="1">
              <a:spcBef>
                <a:spcPts val="0"/>
              </a:spcBef>
              <a:spcAft>
                <a:spcPts val="0"/>
              </a:spcAft>
              <a:buClr>
                <a:schemeClr val="accent3"/>
              </a:buClr>
              <a:buSzPct val="95000"/>
              <a:buFont typeface="Wingdings 2"/>
              <a:buChar char=""/>
              <a:tabLst/>
              <a:defRPr/>
            </a:pPr>
            <a:r>
              <a:rPr kumimoji="0" lang="en-US" sz="2800" b="1" i="0" u="none" strike="noStrike" kern="1200" cap="none" spc="0" normalizeH="0" baseline="0" noProof="0" dirty="0">
                <a:ln>
                  <a:noFill/>
                </a:ln>
                <a:solidFill>
                  <a:srgbClr val="CC0066"/>
                </a:solidFill>
                <a:effectLst/>
                <a:uLnTx/>
                <a:uFillTx/>
                <a:latin typeface="Times New Roman" pitchFamily="18" charset="0"/>
                <a:cs typeface="Times New Roman" pitchFamily="18" charset="0"/>
              </a:rPr>
              <a:t>The shape of a molecule therefore depends on:</a:t>
            </a:r>
          </a:p>
          <a:p>
            <a:pPr marL="801688" marR="0" lvl="1" indent="-338138" algn="l" defTabSz="914400" eaLnBrk="1" fontAlgn="auto" latinLnBrk="0" hangingPunct="1">
              <a:spcBef>
                <a:spcPts val="0"/>
              </a:spcBef>
              <a:spcAft>
                <a:spcPts val="0"/>
              </a:spcAft>
              <a:buClr>
                <a:schemeClr val="accent1"/>
              </a:buClr>
              <a:buSzPct val="85000"/>
              <a:buFontTx/>
              <a:buAutoNum type="arabicPeriod"/>
              <a:tabLst/>
              <a:defRPr/>
            </a:pPr>
            <a:r>
              <a:rPr kumimoji="0" lang="en-US" sz="2800" b="1" i="0" u="none" strike="noStrike" kern="1200" cap="none" spc="0" normalizeH="0" baseline="0" noProof="0" dirty="0">
                <a:ln>
                  <a:noFill/>
                </a:ln>
                <a:solidFill>
                  <a:srgbClr val="000099"/>
                </a:solidFill>
                <a:effectLst/>
                <a:uLnTx/>
                <a:uFillTx/>
                <a:latin typeface="Times New Roman" pitchFamily="18" charset="0"/>
                <a:cs typeface="Times New Roman" pitchFamily="18" charset="0"/>
              </a:rPr>
              <a:t>the number of regions of electron density it has on its central atom, </a:t>
            </a:r>
          </a:p>
          <a:p>
            <a:pPr marL="801688" marR="0" lvl="1" indent="-338138" algn="l" defTabSz="914400" eaLnBrk="1" fontAlgn="auto" latinLnBrk="0" hangingPunct="1">
              <a:spcBef>
                <a:spcPts val="0"/>
              </a:spcBef>
              <a:spcAft>
                <a:spcPts val="0"/>
              </a:spcAft>
              <a:buClr>
                <a:schemeClr val="accent1"/>
              </a:buClr>
              <a:buSzPct val="85000"/>
              <a:buFontTx/>
              <a:buAutoNum type="arabicPeriod"/>
              <a:tabLst/>
              <a:defRPr/>
            </a:pPr>
            <a:r>
              <a:rPr kumimoji="0" lang="en-US" sz="2800" b="1" i="0" u="none" strike="noStrike" kern="1200" cap="none" spc="0" normalizeH="0" baseline="0" noProof="0" dirty="0">
                <a:ln>
                  <a:noFill/>
                </a:ln>
                <a:solidFill>
                  <a:srgbClr val="000099"/>
                </a:solidFill>
                <a:effectLst/>
                <a:uLnTx/>
                <a:uFillTx/>
                <a:latin typeface="Times New Roman" pitchFamily="18" charset="0"/>
                <a:cs typeface="Times New Roman" pitchFamily="18" charset="0"/>
              </a:rPr>
              <a:t>whether these are bonding or non-bonding electrons.</a:t>
            </a:r>
          </a:p>
        </p:txBody>
      </p:sp>
      <p:pic>
        <p:nvPicPr>
          <p:cNvPr id="24" name="Picture 23"/>
          <p:cNvPicPr>
            <a:picLocks noChangeAspect="1" noChangeArrowheads="1"/>
          </p:cNvPicPr>
          <p:nvPr/>
        </p:nvPicPr>
        <p:blipFill>
          <a:blip r:embed="rId5"/>
          <a:srcRect/>
          <a:stretch>
            <a:fillRect/>
          </a:stretch>
        </p:blipFill>
        <p:spPr bwMode="auto">
          <a:xfrm>
            <a:off x="6156176" y="1484784"/>
            <a:ext cx="2895600" cy="3243064"/>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685800"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153400" y="6057900"/>
            <a:ext cx="381000" cy="647700"/>
          </a:xfrm>
          <a:prstGeom prst="rect">
            <a:avLst/>
          </a:prstGeom>
          <a:noFill/>
          <a:ln w="9525">
            <a:noFill/>
            <a:miter lim="800000"/>
            <a:headEnd/>
            <a:tailEnd/>
          </a:ln>
        </p:spPr>
        <p:txBody>
          <a:bodyPr>
            <a:spAutoFit/>
          </a:bodyPr>
          <a:lstStyle/>
          <a:p>
            <a:r>
              <a:rPr lang="en-US" sz="3600" dirty="0">
                <a:latin typeface="Adobe Gothic Std B"/>
                <a:ea typeface="Adobe Gothic Std B"/>
                <a:cs typeface="Adobe Gothic Std B"/>
              </a:rPr>
              <a:t>5</a:t>
            </a:r>
            <a:endParaRPr lang="ar-SA" sz="3600" dirty="0">
              <a:latin typeface="Adobe Gothic Std B"/>
              <a:ea typeface="Adobe Gothic Std B"/>
              <a:cs typeface="Adobe Gothic Std B"/>
            </a:endParaRPr>
          </a:p>
        </p:txBody>
      </p:sp>
      <p:sp>
        <p:nvSpPr>
          <p:cNvPr id="20" name="Rectangle 3"/>
          <p:cNvSpPr txBox="1">
            <a:spLocks noChangeArrowheads="1"/>
          </p:cNvSpPr>
          <p:nvPr/>
        </p:nvSpPr>
        <p:spPr>
          <a:xfrm>
            <a:off x="0" y="762000"/>
            <a:ext cx="9144000" cy="6096000"/>
          </a:xfrm>
          <a:prstGeom prst="rect">
            <a:avLst/>
          </a:prstGeom>
        </p:spPr>
        <p:txBody>
          <a:bodyPr vert="horz" lIns="91440" tIns="45720" rIns="91440" bIns="45720" rtlCol="0">
            <a:normAutofit/>
          </a:bodyPr>
          <a:lstStyle/>
          <a:p>
            <a:pPr marL="381000" marR="0" lvl="0" indent="-381000" algn="l" defTabSz="914400" rtl="0" eaLnBrk="1" fontAlgn="auto" latinLnBrk="0" hangingPunct="1">
              <a:lnSpc>
                <a:spcPct val="15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99"/>
                </a:solidFill>
                <a:effectLst/>
                <a:uLnTx/>
                <a:uFillTx/>
                <a:latin typeface="Times New Roman" pitchFamily="18" charset="0"/>
                <a:ea typeface="+mn-ea"/>
                <a:cs typeface="Times New Roman" pitchFamily="18" charset="0"/>
              </a:rPr>
              <a:t>   </a:t>
            </a:r>
          </a:p>
          <a:p>
            <a:pPr marL="381000" marR="0" lvl="0" indent="-381000" algn="l" defTabSz="914400" rtl="0" eaLnBrk="1" fontAlgn="auto" latinLnBrk="0" hangingPunct="1">
              <a:lnSpc>
                <a:spcPct val="15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99"/>
                </a:solidFill>
                <a:effectLst/>
                <a:uLnTx/>
                <a:uFillTx/>
                <a:latin typeface="Times New Roman" pitchFamily="18" charset="0"/>
                <a:ea typeface="+mn-ea"/>
                <a:cs typeface="Times New Roman" pitchFamily="18" charset="0"/>
              </a:rPr>
              <a:t>In order to use VSEPR to predict molecular structure:</a:t>
            </a:r>
          </a:p>
          <a:p>
            <a:pPr marL="381000" marR="0" lvl="0" indent="-381000" algn="just" defTabSz="914400" rtl="0" eaLnBrk="1" fontAlgn="auto" latinLnBrk="0" hangingPunct="1">
              <a:spcBef>
                <a:spcPts val="0"/>
              </a:spcBef>
              <a:spcAft>
                <a:spcPts val="0"/>
              </a:spcAft>
              <a:buClrTx/>
              <a:buSzTx/>
              <a:buFontTx/>
              <a:buAutoNum type="arabicParenR"/>
              <a:tabLst/>
              <a:defRPr/>
            </a:pPr>
            <a:r>
              <a:rPr kumimoji="0" lang="en-US" sz="2400" b="1" i="0" u="none" strike="noStrike" kern="1200" cap="none" spc="0" normalizeH="0" baseline="0" noProof="0" dirty="0">
                <a:ln>
                  <a:noFill/>
                </a:ln>
                <a:effectLst/>
                <a:uLnTx/>
                <a:uFillTx/>
                <a:latin typeface="Times New Roman" pitchFamily="18" charset="0"/>
                <a:ea typeface="+mn-ea"/>
                <a:cs typeface="Times New Roman" pitchFamily="18" charset="0"/>
              </a:rPr>
              <a:t>Draw up Lewis dot diagram for the molecule or ion. The first atom (e.g. Br in BrF</a:t>
            </a:r>
            <a:r>
              <a:rPr kumimoji="0" lang="en-US" sz="2400" b="1" i="0" u="none" strike="noStrike" kern="1200" cap="none" spc="0" normalizeH="0" baseline="-25000" noProof="0" dirty="0">
                <a:ln>
                  <a:noFill/>
                </a:ln>
                <a:effectLst/>
                <a:uLnTx/>
                <a:uFillTx/>
                <a:latin typeface="Times New Roman" pitchFamily="18" charset="0"/>
                <a:ea typeface="+mn-ea"/>
                <a:cs typeface="Times New Roman" pitchFamily="18" charset="0"/>
              </a:rPr>
              <a:t>5</a:t>
            </a:r>
            <a:r>
              <a:rPr kumimoji="0" lang="en-US" sz="2400" b="1" i="0" u="none" strike="noStrike" kern="1200" cap="none" spc="0" normalizeH="0" baseline="0" noProof="0" dirty="0">
                <a:ln>
                  <a:noFill/>
                </a:ln>
                <a:effectLst/>
                <a:uLnTx/>
                <a:uFillTx/>
                <a:latin typeface="Times New Roman" pitchFamily="18" charset="0"/>
                <a:ea typeface="+mn-ea"/>
                <a:cs typeface="Times New Roman" pitchFamily="18" charset="0"/>
              </a:rPr>
              <a:t>) is always the central atom. Place the other atoms around the central atom. </a:t>
            </a:r>
          </a:p>
          <a:p>
            <a:pPr marL="381000" marR="0" lvl="0" indent="-381000" algn="l" defTabSz="914400" rtl="0" eaLnBrk="1" fontAlgn="auto" latinLnBrk="0" hangingPunct="1">
              <a:lnSpc>
                <a:spcPct val="80000"/>
              </a:lnSpc>
              <a:spcBef>
                <a:spcPct val="20000"/>
              </a:spcBef>
              <a:spcAft>
                <a:spcPts val="0"/>
              </a:spcAft>
              <a:buClrTx/>
              <a:buSzTx/>
              <a:buFontTx/>
              <a:buNone/>
              <a:tabLst/>
              <a:defRPr/>
            </a:pPr>
            <a:endParaRPr kumimoji="0" lang="en-US" sz="1600" b="1" i="0" u="none" strike="noStrike" kern="1200" cap="none" spc="0" normalizeH="0" baseline="0" noProof="0" dirty="0">
              <a:ln>
                <a:noFill/>
              </a:ln>
              <a:solidFill>
                <a:schemeClr val="tx1">
                  <a:tint val="75000"/>
                </a:schemeClr>
              </a:solidFill>
              <a:effectLst/>
              <a:uLnTx/>
              <a:uFillTx/>
              <a:latin typeface="+mn-lt"/>
              <a:ea typeface="+mn-ea"/>
              <a:cs typeface="+mn-cs"/>
            </a:endParaRPr>
          </a:p>
          <a:p>
            <a:pPr marL="381000" marR="0" lvl="0" indent="-381000" algn="ctr" defTabSz="914400" rtl="0" eaLnBrk="1" fontAlgn="auto" latinLnBrk="0" hangingPunct="1">
              <a:lnSpc>
                <a:spcPct val="8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chemeClr val="tx1">
                    <a:tint val="75000"/>
                  </a:schemeClr>
                </a:solidFill>
                <a:effectLst/>
                <a:uLnTx/>
                <a:uFillTx/>
                <a:latin typeface="+mn-lt"/>
                <a:ea typeface="+mn-ea"/>
                <a:cs typeface="+mn-cs"/>
              </a:rPr>
              <a:t>	</a:t>
            </a:r>
          </a:p>
          <a:p>
            <a:pPr marL="381000" marR="0" lvl="0" indent="-381000" algn="ctr" defTabSz="914400" rtl="0" eaLnBrk="1" fontAlgn="auto" latinLnBrk="0" hangingPunct="1">
              <a:lnSpc>
                <a:spcPct val="8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chemeClr val="tx1">
                    <a:tint val="75000"/>
                  </a:schemeClr>
                </a:solidFill>
                <a:effectLst/>
                <a:uLnTx/>
                <a:uFillTx/>
                <a:latin typeface="+mn-lt"/>
                <a:ea typeface="+mn-ea"/>
                <a:cs typeface="+mn-cs"/>
              </a:rPr>
              <a:t>	</a:t>
            </a:r>
          </a:p>
          <a:p>
            <a:pPr marL="381000" marR="0" lvl="0" indent="-381000" algn="ctr" defTabSz="914400" rtl="0" eaLnBrk="1" fontAlgn="auto" latinLnBrk="0" hangingPunct="1">
              <a:lnSpc>
                <a:spcPct val="80000"/>
              </a:lnSpc>
              <a:spcBef>
                <a:spcPct val="20000"/>
              </a:spcBef>
              <a:spcAft>
                <a:spcPts val="0"/>
              </a:spcAft>
              <a:buClrTx/>
              <a:buSzTx/>
              <a:buFontTx/>
              <a:buNone/>
              <a:tabLst/>
              <a:defRPr/>
            </a:pPr>
            <a:endParaRPr kumimoji="0" lang="en-US" sz="1600" b="1" i="0" u="none" strike="noStrike" kern="1200" cap="none" spc="0" normalizeH="0" baseline="0" noProof="0" dirty="0">
              <a:ln>
                <a:noFill/>
              </a:ln>
              <a:solidFill>
                <a:schemeClr val="tx1">
                  <a:tint val="75000"/>
                </a:schemeClr>
              </a:solidFill>
              <a:effectLst/>
              <a:uLnTx/>
              <a:uFillTx/>
              <a:latin typeface="+mn-lt"/>
              <a:ea typeface="+mn-ea"/>
              <a:cs typeface="+mn-cs"/>
            </a:endParaRPr>
          </a:p>
          <a:p>
            <a:pPr marL="381000" marR="0" lvl="0" indent="-381000" algn="ctr" defTabSz="914400" rtl="0" eaLnBrk="1" fontAlgn="auto" latinLnBrk="0" hangingPunct="1">
              <a:lnSpc>
                <a:spcPct val="8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chemeClr val="tx1">
                    <a:tint val="75000"/>
                  </a:schemeClr>
                </a:solidFill>
                <a:effectLst/>
                <a:uLnTx/>
                <a:uFillTx/>
                <a:latin typeface="+mn-lt"/>
                <a:ea typeface="+mn-ea"/>
                <a:cs typeface="+mn-cs"/>
              </a:rPr>
              <a:t>	</a:t>
            </a:r>
          </a:p>
          <a:p>
            <a:pPr marL="381000" marR="0" lvl="0" indent="-381000" algn="ctr" defTabSz="914400" rtl="0" eaLnBrk="1" fontAlgn="auto" latinLnBrk="0" hangingPunct="1">
              <a:lnSpc>
                <a:spcPct val="8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chemeClr val="tx1">
                    <a:tint val="75000"/>
                  </a:schemeClr>
                </a:solidFill>
                <a:effectLst/>
                <a:uLnTx/>
                <a:uFillTx/>
                <a:latin typeface="+mn-lt"/>
                <a:ea typeface="+mn-ea"/>
                <a:cs typeface="+mn-cs"/>
              </a:rPr>
              <a:t>	</a:t>
            </a:r>
          </a:p>
          <a:p>
            <a:pPr marL="381000" marR="0" lvl="0" indent="-381000" algn="just" defTabSz="914400" rtl="0" eaLnBrk="1" fontAlgn="auto" latinLnBrk="0" hangingPunct="1">
              <a:lnSpc>
                <a:spcPct val="80000"/>
              </a:lnSpc>
              <a:spcBef>
                <a:spcPct val="20000"/>
              </a:spcBef>
              <a:spcAft>
                <a:spcPts val="0"/>
              </a:spcAft>
              <a:buClrTx/>
              <a:buSzTx/>
              <a:buFontTx/>
              <a:buNone/>
              <a:tabLst/>
              <a:defRPr/>
            </a:pPr>
            <a:r>
              <a:rPr kumimoji="0" lang="en-US" sz="1600" b="1" i="0" u="none" strike="noStrike" kern="1200" cap="none" spc="0" normalizeH="0" baseline="0" noProof="0" dirty="0">
                <a:ln>
                  <a:noFill/>
                </a:ln>
                <a:solidFill>
                  <a:schemeClr val="tx1">
                    <a:tint val="75000"/>
                  </a:schemeClr>
                </a:solidFill>
                <a:effectLst/>
                <a:uLnTx/>
                <a:uFillTx/>
                <a:latin typeface="+mn-lt"/>
                <a:ea typeface="+mn-ea"/>
                <a:cs typeface="+mn-cs"/>
              </a:rPr>
              <a:t>	</a:t>
            </a:r>
          </a:p>
          <a:p>
            <a:pPr marL="0" marR="0" lvl="0" indent="360363" algn="just" defTabSz="914400" rtl="0" eaLnBrk="1" fontAlgn="auto" latinLnBrk="0" hangingPunct="1">
              <a:lnSpc>
                <a:spcPct val="160000"/>
              </a:lnSpc>
              <a:spcBef>
                <a:spcPts val="0"/>
              </a:spcBef>
              <a:spcAft>
                <a:spcPts val="0"/>
              </a:spcAft>
              <a:buClrTx/>
              <a:buSzTx/>
              <a:buFontTx/>
              <a:buNone/>
              <a:tabLst/>
              <a:defRPr/>
            </a:pPr>
            <a:endParaRPr kumimoji="0" lang="en-US" sz="800" b="1" i="0" u="none" strike="noStrike" kern="1200" cap="none" spc="0" normalizeH="0" baseline="0" noProof="0" dirty="0">
              <a:ln>
                <a:noFill/>
              </a:ln>
              <a:solidFill>
                <a:schemeClr val="tx1">
                  <a:tint val="75000"/>
                </a:schemeClr>
              </a:solidFill>
              <a:effectLst/>
              <a:uLnTx/>
              <a:uFillTx/>
              <a:latin typeface="Times New Roman" pitchFamily="18" charset="0"/>
              <a:ea typeface="+mn-ea"/>
              <a:cs typeface="Times New Roman" pitchFamily="18" charset="0"/>
            </a:endParaRPr>
          </a:p>
        </p:txBody>
      </p:sp>
      <p:sp>
        <p:nvSpPr>
          <p:cNvPr id="23" name="Rectangle 22"/>
          <p:cNvSpPr/>
          <p:nvPr/>
        </p:nvSpPr>
        <p:spPr>
          <a:xfrm>
            <a:off x="2000232" y="642918"/>
            <a:ext cx="4724400" cy="661207"/>
          </a:xfrm>
          <a:prstGeom prst="rect">
            <a:avLst/>
          </a:prstGeom>
          <a:solidFill>
            <a:schemeClr val="accent6">
              <a:lumMod val="40000"/>
              <a:lumOff val="60000"/>
            </a:schemeClr>
          </a:solidFill>
          <a:ln>
            <a:solidFill>
              <a:srgbClr val="FF33CC"/>
            </a:solidFill>
          </a:ln>
          <a:effectLst>
            <a:glow rad="228600">
              <a:schemeClr val="accent2">
                <a:satMod val="175000"/>
                <a:alpha val="40000"/>
              </a:schemeClr>
            </a:glow>
          </a:effectLst>
        </p:spPr>
        <p:txBody>
          <a:bodyPr wrap="square">
            <a:spAutoFit/>
          </a:bodyPr>
          <a:lstStyle/>
          <a:p>
            <a:pPr marL="404813" indent="-404813" algn="just">
              <a:lnSpc>
                <a:spcPct val="150000"/>
              </a:lnSpc>
            </a:pPr>
            <a:r>
              <a:rPr lang="en-US" sz="2800" b="1" dirty="0">
                <a:solidFill>
                  <a:srgbClr val="FF0066"/>
                </a:solidFill>
                <a:latin typeface="Times New Roman" pitchFamily="18" charset="0"/>
              </a:rPr>
              <a:t>Applying the </a:t>
            </a:r>
            <a:r>
              <a:rPr lang="tr-TR" sz="2800" b="1" dirty="0">
                <a:solidFill>
                  <a:srgbClr val="FF0066"/>
                </a:solidFill>
                <a:latin typeface="Times New Roman" pitchFamily="18" charset="0"/>
              </a:rPr>
              <a:t>VSEPR</a:t>
            </a:r>
            <a:r>
              <a:rPr lang="en-US" sz="2800" b="1" dirty="0">
                <a:solidFill>
                  <a:srgbClr val="FF0066"/>
                </a:solidFill>
                <a:latin typeface="Times New Roman" pitchFamily="18" charset="0"/>
              </a:rPr>
              <a:t> theory</a:t>
            </a:r>
            <a:endParaRPr lang="en-US" sz="2800" b="1" i="1" dirty="0">
              <a:solidFill>
                <a:srgbClr val="FF0066"/>
              </a:solidFill>
              <a:latin typeface="Times New Roman" pitchFamily="18" charset="0"/>
            </a:endParaRPr>
          </a:p>
        </p:txBody>
      </p:sp>
      <p:pic>
        <p:nvPicPr>
          <p:cNvPr id="24" name="Picture 4"/>
          <p:cNvPicPr>
            <a:picLocks noChangeAspect="1" noChangeArrowheads="1"/>
          </p:cNvPicPr>
          <p:nvPr/>
        </p:nvPicPr>
        <p:blipFill>
          <a:blip r:embed="rId5"/>
          <a:srcRect/>
          <a:stretch>
            <a:fillRect/>
          </a:stretch>
        </p:blipFill>
        <p:spPr bwMode="auto">
          <a:xfrm>
            <a:off x="1924032" y="3335288"/>
            <a:ext cx="4876800" cy="1893912"/>
          </a:xfrm>
          <a:prstGeom prst="rect">
            <a:avLst/>
          </a:prstGeom>
          <a:noFill/>
        </p:spPr>
      </p:pic>
      <p:sp>
        <p:nvSpPr>
          <p:cNvPr id="25" name="Text Box 7"/>
          <p:cNvSpPr txBox="1">
            <a:spLocks noChangeArrowheads="1"/>
          </p:cNvSpPr>
          <p:nvPr/>
        </p:nvSpPr>
        <p:spPr bwMode="auto">
          <a:xfrm>
            <a:off x="6574620" y="4126534"/>
            <a:ext cx="2590800" cy="830997"/>
          </a:xfrm>
          <a:prstGeom prst="rect">
            <a:avLst/>
          </a:prstGeom>
          <a:noFill/>
          <a:ln w="9525">
            <a:noFill/>
            <a:miter lim="800000"/>
            <a:headEnd/>
            <a:tailEnd/>
          </a:ln>
          <a:effectLst/>
        </p:spPr>
        <p:txBody>
          <a:bodyPr wrap="square">
            <a:spAutoFit/>
          </a:bodyPr>
          <a:lstStyle/>
          <a:p>
            <a:r>
              <a:rPr lang="en-US" sz="2400" b="1" dirty="0">
                <a:solidFill>
                  <a:srgbClr val="FF0000"/>
                </a:solidFill>
                <a:latin typeface="Times New Roman" pitchFamily="18" charset="0"/>
                <a:cs typeface="Times New Roman" pitchFamily="18" charset="0"/>
              </a:rPr>
              <a:t>red = 7 valence</a:t>
            </a:r>
          </a:p>
          <a:p>
            <a:r>
              <a:rPr lang="en-US" sz="2400" b="1" dirty="0">
                <a:solidFill>
                  <a:srgbClr val="FF0000"/>
                </a:solidFill>
                <a:latin typeface="Times New Roman" pitchFamily="18" charset="0"/>
                <a:cs typeface="Times New Roman" pitchFamily="18" charset="0"/>
              </a:rPr>
              <a:t>electrons for Br</a:t>
            </a:r>
          </a:p>
        </p:txBody>
      </p:sp>
      <p:sp>
        <p:nvSpPr>
          <p:cNvPr id="26" name="Text Box 8"/>
          <p:cNvSpPr txBox="1">
            <a:spLocks noChangeArrowheads="1"/>
          </p:cNvSpPr>
          <p:nvPr/>
        </p:nvSpPr>
        <p:spPr bwMode="auto">
          <a:xfrm>
            <a:off x="0" y="3500438"/>
            <a:ext cx="2152650" cy="1200329"/>
          </a:xfrm>
          <a:prstGeom prst="rect">
            <a:avLst/>
          </a:prstGeom>
          <a:noFill/>
          <a:ln w="9525">
            <a:noFill/>
            <a:miter lim="800000"/>
            <a:headEnd/>
            <a:tailEnd/>
          </a:ln>
          <a:effectLst/>
        </p:spPr>
        <p:txBody>
          <a:bodyPr wrap="square">
            <a:spAutoFit/>
          </a:bodyPr>
          <a:lstStyle/>
          <a:p>
            <a:pPr algn="just"/>
            <a:r>
              <a:rPr lang="en-US" sz="2400" b="1" dirty="0">
                <a:solidFill>
                  <a:srgbClr val="000099"/>
                </a:solidFill>
                <a:latin typeface="Times New Roman" pitchFamily="18" charset="0"/>
                <a:cs typeface="Times New Roman" pitchFamily="18" charset="0"/>
              </a:rPr>
              <a:t>place 5 F</a:t>
            </a:r>
          </a:p>
          <a:p>
            <a:pPr algn="just"/>
            <a:r>
              <a:rPr lang="en-US" sz="2400" b="1" dirty="0">
                <a:solidFill>
                  <a:srgbClr val="000099"/>
                </a:solidFill>
                <a:latin typeface="Times New Roman" pitchFamily="18" charset="0"/>
                <a:cs typeface="Times New Roman" pitchFamily="18" charset="0"/>
              </a:rPr>
              <a:t>atoms around</a:t>
            </a:r>
          </a:p>
          <a:p>
            <a:pPr algn="just"/>
            <a:r>
              <a:rPr lang="en-US" sz="2400" b="1" dirty="0">
                <a:solidFill>
                  <a:srgbClr val="000099"/>
                </a:solidFill>
                <a:latin typeface="Times New Roman" pitchFamily="18" charset="0"/>
                <a:cs typeface="Times New Roman" pitchFamily="18" charset="0"/>
              </a:rPr>
              <a:t>central Br</a:t>
            </a:r>
          </a:p>
        </p:txBody>
      </p:sp>
      <p:sp>
        <p:nvSpPr>
          <p:cNvPr id="27" name="Line 5"/>
          <p:cNvSpPr>
            <a:spLocks noChangeShapeType="1"/>
          </p:cNvSpPr>
          <p:nvPr/>
        </p:nvSpPr>
        <p:spPr bwMode="auto">
          <a:xfrm flipV="1">
            <a:off x="1357290" y="3786190"/>
            <a:ext cx="838200" cy="76200"/>
          </a:xfrm>
          <a:prstGeom prst="line">
            <a:avLst/>
          </a:prstGeom>
          <a:noFill/>
          <a:ln w="9525">
            <a:solidFill>
              <a:schemeClr val="tx1"/>
            </a:solidFill>
            <a:round/>
            <a:headEnd/>
            <a:tailEnd type="triangle" w="med" len="med"/>
          </a:ln>
          <a:effectLst/>
        </p:spPr>
        <p:txBody>
          <a:bodyPr/>
          <a:lstStyle/>
          <a:p>
            <a:endParaRPr lang="en-US"/>
          </a:p>
        </p:txBody>
      </p:sp>
      <p:sp>
        <p:nvSpPr>
          <p:cNvPr id="28" name="Line 6"/>
          <p:cNvSpPr>
            <a:spLocks noChangeShapeType="1"/>
          </p:cNvSpPr>
          <p:nvPr/>
        </p:nvSpPr>
        <p:spPr bwMode="auto">
          <a:xfrm flipH="1">
            <a:off x="6133164" y="4365104"/>
            <a:ext cx="457200" cy="76200"/>
          </a:xfrm>
          <a:prstGeom prst="line">
            <a:avLst/>
          </a:prstGeom>
          <a:noFill/>
          <a:ln w="9525">
            <a:solidFill>
              <a:schemeClr val="tx1"/>
            </a:solidFill>
            <a:round/>
            <a:headEnd/>
            <a:tailEnd type="triangle" w="med" len="med"/>
          </a:ln>
          <a:effectLst/>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685800"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153400" y="6057900"/>
            <a:ext cx="381000" cy="647700"/>
          </a:xfrm>
          <a:prstGeom prst="rect">
            <a:avLst/>
          </a:prstGeom>
          <a:noFill/>
          <a:ln w="9525">
            <a:noFill/>
            <a:miter lim="800000"/>
            <a:headEnd/>
            <a:tailEnd/>
          </a:ln>
        </p:spPr>
        <p:txBody>
          <a:bodyPr>
            <a:spAutoFit/>
          </a:bodyPr>
          <a:lstStyle/>
          <a:p>
            <a:r>
              <a:rPr lang="en-US" sz="3600" dirty="0">
                <a:latin typeface="Adobe Gothic Std B"/>
                <a:ea typeface="Adobe Gothic Std B"/>
                <a:cs typeface="Adobe Gothic Std B"/>
              </a:rPr>
              <a:t>6</a:t>
            </a:r>
            <a:endParaRPr lang="ar-SA" sz="3600" dirty="0">
              <a:latin typeface="Adobe Gothic Std B"/>
              <a:ea typeface="Adobe Gothic Std B"/>
              <a:cs typeface="Adobe Gothic Std B"/>
            </a:endParaRPr>
          </a:p>
        </p:txBody>
      </p:sp>
      <p:sp>
        <p:nvSpPr>
          <p:cNvPr id="20" name="Rectangle 19"/>
          <p:cNvSpPr/>
          <p:nvPr/>
        </p:nvSpPr>
        <p:spPr>
          <a:xfrm>
            <a:off x="251520" y="609600"/>
            <a:ext cx="8784976" cy="5632311"/>
          </a:xfrm>
          <a:prstGeom prst="rect">
            <a:avLst/>
          </a:prstGeom>
        </p:spPr>
        <p:txBody>
          <a:bodyPr wrap="square">
            <a:spAutoFit/>
          </a:bodyPr>
          <a:lstStyle/>
          <a:p>
            <a:pPr indent="539750" algn="just">
              <a:lnSpc>
                <a:spcPct val="150000"/>
              </a:lnSpc>
            </a:pPr>
            <a:r>
              <a:rPr lang="en-US" sz="2400" b="1" dirty="0">
                <a:solidFill>
                  <a:srgbClr val="FF0066"/>
                </a:solidFill>
                <a:latin typeface="Times New Roman" pitchFamily="18" charset="0"/>
                <a:cs typeface="Times New Roman" pitchFamily="18" charset="0"/>
              </a:rPr>
              <a:t>If these are single bonds, contribute one electron per attached atom. Then add the valence electrons for the central atom = 7 for Br.</a:t>
            </a:r>
            <a:endParaRPr lang="en-US" sz="2400" b="1" dirty="0">
              <a:solidFill>
                <a:srgbClr val="FF0066"/>
              </a:solidFill>
            </a:endParaRPr>
          </a:p>
          <a:p>
            <a:pPr marL="381000" indent="-381000" algn="just">
              <a:lnSpc>
                <a:spcPct val="150000"/>
              </a:lnSpc>
            </a:pPr>
            <a:r>
              <a:rPr lang="en-US" sz="2400" b="1" dirty="0">
                <a:solidFill>
                  <a:srgbClr val="000099"/>
                </a:solidFill>
                <a:latin typeface="Times New Roman" pitchFamily="18" charset="0"/>
                <a:cs typeface="Times New Roman" pitchFamily="18" charset="0"/>
              </a:rPr>
              <a:t>2)  Work out number of electron domains = valence electron pairs (‘n’) plus attached atoms on central atom. For BrF</a:t>
            </a:r>
            <a:r>
              <a:rPr lang="en-US" sz="2400" b="1" baseline="-25000" dirty="0">
                <a:solidFill>
                  <a:srgbClr val="000099"/>
                </a:solidFill>
                <a:latin typeface="Times New Roman" pitchFamily="18" charset="0"/>
                <a:cs typeface="Times New Roman" pitchFamily="18" charset="0"/>
              </a:rPr>
              <a:t>5</a:t>
            </a:r>
            <a:r>
              <a:rPr lang="en-US" sz="2400" b="1" dirty="0">
                <a:solidFill>
                  <a:srgbClr val="000099"/>
                </a:solidFill>
                <a:latin typeface="Times New Roman" pitchFamily="18" charset="0"/>
                <a:cs typeface="Times New Roman" pitchFamily="18" charset="0"/>
              </a:rPr>
              <a:t> n = 6.</a:t>
            </a:r>
          </a:p>
          <a:p>
            <a:pPr marL="381000" indent="-381000" algn="just">
              <a:lnSpc>
                <a:spcPct val="150000"/>
              </a:lnSpc>
            </a:pPr>
            <a:r>
              <a:rPr lang="en-US" sz="2400" b="1" dirty="0">
                <a:solidFill>
                  <a:srgbClr val="000099"/>
                </a:solidFill>
                <a:latin typeface="Times New Roman" pitchFamily="18" charset="0"/>
                <a:cs typeface="Times New Roman" pitchFamily="18" charset="0"/>
              </a:rPr>
              <a:t>3) Relate n to the type of structure predicted for that value of n. n = 6 = octahedral.</a:t>
            </a:r>
          </a:p>
          <a:p>
            <a:pPr marL="381000" indent="-381000" algn="just">
              <a:lnSpc>
                <a:spcPct val="150000"/>
              </a:lnSpc>
            </a:pPr>
            <a:r>
              <a:rPr lang="en-US" sz="2400" b="1" dirty="0">
                <a:solidFill>
                  <a:srgbClr val="000099"/>
                </a:solidFill>
                <a:latin typeface="Times New Roman" pitchFamily="18" charset="0"/>
                <a:cs typeface="Times New Roman" pitchFamily="18" charset="0"/>
              </a:rPr>
              <a:t>4) Place lone pairs in expected positions, maximizing separation of lone pairs. For BrF</a:t>
            </a:r>
            <a:r>
              <a:rPr lang="en-US" sz="2400" b="1" baseline="-25000" dirty="0">
                <a:solidFill>
                  <a:srgbClr val="000099"/>
                </a:solidFill>
                <a:latin typeface="Times New Roman" pitchFamily="18" charset="0"/>
                <a:cs typeface="Times New Roman" pitchFamily="18" charset="0"/>
              </a:rPr>
              <a:t>5</a:t>
            </a:r>
            <a:r>
              <a:rPr lang="en-US" sz="2400" b="1" dirty="0">
                <a:solidFill>
                  <a:srgbClr val="000099"/>
                </a:solidFill>
                <a:latin typeface="Times New Roman" pitchFamily="18" charset="0"/>
                <a:cs typeface="Times New Roman" pitchFamily="18" charset="0"/>
              </a:rPr>
              <a:t>, there is one lone pair, so mol. structure = square pyramidal.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685800"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153400" y="6057900"/>
            <a:ext cx="381000" cy="647700"/>
          </a:xfrm>
          <a:prstGeom prst="rect">
            <a:avLst/>
          </a:prstGeom>
          <a:noFill/>
          <a:ln w="9525">
            <a:noFill/>
            <a:miter lim="800000"/>
            <a:headEnd/>
            <a:tailEnd/>
          </a:ln>
        </p:spPr>
        <p:txBody>
          <a:bodyPr>
            <a:spAutoFit/>
          </a:bodyPr>
          <a:lstStyle/>
          <a:p>
            <a:r>
              <a:rPr lang="en-US" sz="3600" dirty="0">
                <a:latin typeface="Adobe Gothic Std B"/>
                <a:ea typeface="Adobe Gothic Std B"/>
                <a:cs typeface="Adobe Gothic Std B"/>
              </a:rPr>
              <a:t>7</a:t>
            </a:r>
            <a:endParaRPr lang="ar-SA" sz="3600" dirty="0">
              <a:latin typeface="Adobe Gothic Std B"/>
              <a:ea typeface="Adobe Gothic Std B"/>
              <a:cs typeface="Adobe Gothic Std B"/>
            </a:endParaRPr>
          </a:p>
        </p:txBody>
      </p:sp>
      <p:sp>
        <p:nvSpPr>
          <p:cNvPr id="24" name="Text Box 5"/>
          <p:cNvSpPr txBox="1">
            <a:spLocks noChangeArrowheads="1"/>
          </p:cNvSpPr>
          <p:nvPr/>
        </p:nvSpPr>
        <p:spPr bwMode="auto">
          <a:xfrm>
            <a:off x="646928" y="4433877"/>
            <a:ext cx="2643173" cy="1323439"/>
          </a:xfrm>
          <a:prstGeom prst="rect">
            <a:avLst/>
          </a:prstGeom>
          <a:noFill/>
          <a:ln w="9525">
            <a:noFill/>
            <a:miter lim="800000"/>
            <a:headEnd/>
            <a:tailEnd/>
          </a:ln>
          <a:effectLst/>
        </p:spPr>
        <p:txBody>
          <a:bodyPr wrap="square">
            <a:spAutoFit/>
          </a:bodyPr>
          <a:lstStyle/>
          <a:p>
            <a:r>
              <a:rPr lang="en-US" sz="2000" dirty="0"/>
              <a:t>n = 6 from five</a:t>
            </a:r>
          </a:p>
          <a:p>
            <a:r>
              <a:rPr lang="en-US" sz="2000" dirty="0"/>
              <a:t>attached atoms</a:t>
            </a:r>
          </a:p>
          <a:p>
            <a:r>
              <a:rPr lang="en-US" sz="2000" dirty="0"/>
              <a:t>plus one electron</a:t>
            </a:r>
          </a:p>
          <a:p>
            <a:r>
              <a:rPr lang="en-US" sz="2000" dirty="0"/>
              <a:t>pair</a:t>
            </a:r>
          </a:p>
        </p:txBody>
      </p:sp>
      <p:sp>
        <p:nvSpPr>
          <p:cNvPr id="25" name="Text Box 6"/>
          <p:cNvSpPr txBox="1">
            <a:spLocks noChangeArrowheads="1"/>
          </p:cNvSpPr>
          <p:nvPr/>
        </p:nvSpPr>
        <p:spPr bwMode="auto">
          <a:xfrm>
            <a:off x="3142767" y="4506725"/>
            <a:ext cx="3038475" cy="1015663"/>
          </a:xfrm>
          <a:prstGeom prst="rect">
            <a:avLst/>
          </a:prstGeom>
          <a:noFill/>
          <a:ln w="9525">
            <a:noFill/>
            <a:miter lim="800000"/>
            <a:headEnd/>
            <a:tailEnd/>
          </a:ln>
          <a:effectLst/>
        </p:spPr>
        <p:txBody>
          <a:bodyPr wrap="square">
            <a:spAutoFit/>
          </a:bodyPr>
          <a:lstStyle/>
          <a:p>
            <a:r>
              <a:rPr lang="en-US" sz="2000" dirty="0"/>
              <a:t>n = 6, parent structure</a:t>
            </a:r>
          </a:p>
          <a:p>
            <a:r>
              <a:rPr lang="en-US" sz="2000" dirty="0"/>
              <a:t>= octahedral, but one site</a:t>
            </a:r>
          </a:p>
          <a:p>
            <a:r>
              <a:rPr lang="en-US" sz="2000" dirty="0"/>
              <a:t>occupied by a lone pair</a:t>
            </a:r>
          </a:p>
        </p:txBody>
      </p:sp>
      <p:sp>
        <p:nvSpPr>
          <p:cNvPr id="26" name="Text Box 10"/>
          <p:cNvSpPr txBox="1">
            <a:spLocks noChangeArrowheads="1"/>
          </p:cNvSpPr>
          <p:nvPr/>
        </p:nvSpPr>
        <p:spPr bwMode="auto">
          <a:xfrm>
            <a:off x="6477000" y="4500570"/>
            <a:ext cx="2509838" cy="1015663"/>
          </a:xfrm>
          <a:prstGeom prst="rect">
            <a:avLst/>
          </a:prstGeom>
          <a:noFill/>
          <a:ln w="9525">
            <a:noFill/>
            <a:miter lim="800000"/>
            <a:headEnd/>
            <a:tailEnd/>
          </a:ln>
          <a:effectLst/>
        </p:spPr>
        <p:txBody>
          <a:bodyPr wrap="square">
            <a:spAutoFit/>
          </a:bodyPr>
          <a:lstStyle/>
          <a:p>
            <a:r>
              <a:rPr lang="en-US" sz="2000" dirty="0"/>
              <a:t>molecular or final</a:t>
            </a:r>
          </a:p>
          <a:p>
            <a:r>
              <a:rPr lang="en-US" sz="2000" dirty="0"/>
              <a:t>structure – disregard</a:t>
            </a:r>
          </a:p>
          <a:p>
            <a:r>
              <a:rPr lang="en-US" sz="2000" dirty="0"/>
              <a:t>the lone pair</a:t>
            </a:r>
          </a:p>
        </p:txBody>
      </p:sp>
      <p:pic>
        <p:nvPicPr>
          <p:cNvPr id="32" name="Picture 20"/>
          <p:cNvPicPr>
            <a:picLocks noChangeAspect="1" noChangeArrowheads="1"/>
          </p:cNvPicPr>
          <p:nvPr/>
        </p:nvPicPr>
        <p:blipFill>
          <a:blip r:embed="rId5"/>
          <a:srcRect/>
          <a:stretch>
            <a:fillRect/>
          </a:stretch>
        </p:blipFill>
        <p:spPr bwMode="auto">
          <a:xfrm>
            <a:off x="539552" y="2052621"/>
            <a:ext cx="8051968" cy="2233635"/>
          </a:xfrm>
          <a:prstGeom prst="rect">
            <a:avLst/>
          </a:prstGeom>
          <a:noFill/>
        </p:spPr>
      </p:pic>
      <p:sp>
        <p:nvSpPr>
          <p:cNvPr id="33" name="Text Box 21"/>
          <p:cNvSpPr txBox="1">
            <a:spLocks noChangeArrowheads="1"/>
          </p:cNvSpPr>
          <p:nvPr/>
        </p:nvSpPr>
        <p:spPr bwMode="auto">
          <a:xfrm>
            <a:off x="2000232" y="4071942"/>
            <a:ext cx="1158875" cy="396875"/>
          </a:xfrm>
          <a:prstGeom prst="rect">
            <a:avLst/>
          </a:prstGeom>
          <a:noFill/>
          <a:ln w="9525">
            <a:noFill/>
            <a:miter lim="800000"/>
            <a:headEnd/>
            <a:tailEnd/>
          </a:ln>
          <a:effectLst/>
        </p:spPr>
        <p:txBody>
          <a:bodyPr wrap="none">
            <a:spAutoFit/>
          </a:bodyPr>
          <a:lstStyle/>
          <a:p>
            <a:r>
              <a:rPr lang="en-US" sz="2000" dirty="0"/>
              <a:t>lone pair</a:t>
            </a:r>
          </a:p>
        </p:txBody>
      </p:sp>
      <p:sp>
        <p:nvSpPr>
          <p:cNvPr id="34" name="Line 22"/>
          <p:cNvSpPr>
            <a:spLocks noChangeShapeType="1"/>
          </p:cNvSpPr>
          <p:nvPr/>
        </p:nvSpPr>
        <p:spPr bwMode="auto">
          <a:xfrm flipV="1">
            <a:off x="3214678" y="3929066"/>
            <a:ext cx="838200" cy="228600"/>
          </a:xfrm>
          <a:prstGeom prst="line">
            <a:avLst/>
          </a:prstGeom>
          <a:noFill/>
          <a:ln w="9525">
            <a:solidFill>
              <a:schemeClr val="tx1"/>
            </a:solidFill>
            <a:round/>
            <a:headEnd/>
            <a:tailEnd type="triangle" w="med" len="med"/>
          </a:ln>
          <a:effectLst/>
        </p:spPr>
        <p:txBody>
          <a:bodyPr/>
          <a:lstStyle/>
          <a:p>
            <a:endParaRPr lang="en-US"/>
          </a:p>
        </p:txBody>
      </p:sp>
      <p:sp>
        <p:nvSpPr>
          <p:cNvPr id="35" name="Rectangle 34"/>
          <p:cNvSpPr/>
          <p:nvPr/>
        </p:nvSpPr>
        <p:spPr>
          <a:xfrm>
            <a:off x="1928794" y="571480"/>
            <a:ext cx="5867398" cy="523220"/>
          </a:xfrm>
          <a:prstGeom prst="rect">
            <a:avLst/>
          </a:prstGeom>
          <a:solidFill>
            <a:srgbClr val="FFFF00"/>
          </a:solidFill>
          <a:ln>
            <a:solidFill>
              <a:srgbClr val="00B0F0"/>
            </a:solidFill>
          </a:ln>
          <a:effectLst>
            <a:glow rad="228600">
              <a:schemeClr val="accent1">
                <a:satMod val="175000"/>
                <a:alpha val="40000"/>
              </a:schemeClr>
            </a:glow>
          </a:effectLst>
        </p:spPr>
        <p:txBody>
          <a:bodyPr wrap="square">
            <a:spAutoFit/>
          </a:bodyPr>
          <a:lstStyle/>
          <a:p>
            <a:pPr algn="just"/>
            <a:r>
              <a:rPr lang="en-US" sz="2800" b="1" dirty="0">
                <a:solidFill>
                  <a:srgbClr val="D60093"/>
                </a:solidFill>
                <a:latin typeface="Times New Roman" pitchFamily="18" charset="0"/>
                <a:cs typeface="Times New Roman" pitchFamily="18" charset="0"/>
              </a:rPr>
              <a:t>The structure of BrF</a:t>
            </a:r>
            <a:r>
              <a:rPr lang="en-US" sz="2800" b="1" baseline="-25000" dirty="0">
                <a:solidFill>
                  <a:srgbClr val="D60093"/>
                </a:solidFill>
                <a:latin typeface="Times New Roman" pitchFamily="18" charset="0"/>
                <a:cs typeface="Times New Roman" pitchFamily="18" charset="0"/>
              </a:rPr>
              <a:t>5</a:t>
            </a:r>
            <a:r>
              <a:rPr lang="en-US" sz="2800" b="1" dirty="0">
                <a:solidFill>
                  <a:srgbClr val="D60093"/>
                </a:solidFill>
                <a:latin typeface="Times New Roman" pitchFamily="18" charset="0"/>
                <a:cs typeface="Times New Roman" pitchFamily="18" charset="0"/>
              </a:rPr>
              <a:t> from VSEPR:</a:t>
            </a:r>
            <a:endParaRPr lang="ar-EG" sz="2800" i="1" dirty="0">
              <a:latin typeface="Times New Roman" pitchFamily="18" charset="0"/>
            </a:endParaRPr>
          </a:p>
        </p:txBody>
      </p:sp>
      <p:sp>
        <p:nvSpPr>
          <p:cNvPr id="36" name="Rectangle 11"/>
          <p:cNvSpPr>
            <a:spLocks noChangeArrowheads="1"/>
          </p:cNvSpPr>
          <p:nvPr/>
        </p:nvSpPr>
        <p:spPr bwMode="auto">
          <a:xfrm>
            <a:off x="304800" y="1295400"/>
            <a:ext cx="2438400" cy="609600"/>
          </a:xfrm>
          <a:prstGeom prst="rect">
            <a:avLst/>
          </a:prstGeom>
          <a:solidFill>
            <a:schemeClr val="accent1">
              <a:alpha val="25000"/>
            </a:schemeClr>
          </a:solidFill>
          <a:ln w="25400">
            <a:solidFill>
              <a:schemeClr val="tx1"/>
            </a:solidFill>
            <a:miter lim="800000"/>
            <a:headEnd/>
            <a:tailEnd/>
          </a:ln>
          <a:effectLst/>
        </p:spPr>
        <p:txBody>
          <a:bodyPr wrap="none" anchor="ctr"/>
          <a:lstStyle/>
          <a:p>
            <a:r>
              <a:rPr lang="en-US" dirty="0"/>
              <a:t>Lewis dot diagram</a:t>
            </a:r>
          </a:p>
        </p:txBody>
      </p:sp>
      <p:sp>
        <p:nvSpPr>
          <p:cNvPr id="37" name="Rectangle 13"/>
          <p:cNvSpPr>
            <a:spLocks noChangeArrowheads="1"/>
          </p:cNvSpPr>
          <p:nvPr/>
        </p:nvSpPr>
        <p:spPr bwMode="auto">
          <a:xfrm>
            <a:off x="6072198" y="1214422"/>
            <a:ext cx="2819400" cy="838200"/>
          </a:xfrm>
          <a:prstGeom prst="rect">
            <a:avLst/>
          </a:prstGeom>
          <a:solidFill>
            <a:schemeClr val="accent1">
              <a:alpha val="30000"/>
            </a:schemeClr>
          </a:solidFill>
          <a:ln w="25400">
            <a:solidFill>
              <a:schemeClr val="tx1"/>
            </a:solidFill>
            <a:miter lim="800000"/>
            <a:headEnd/>
            <a:tailEnd/>
          </a:ln>
          <a:effectLst/>
        </p:spPr>
        <p:txBody>
          <a:bodyPr wrap="none" anchor="ctr"/>
          <a:lstStyle/>
          <a:p>
            <a:endParaRPr lang="en-US"/>
          </a:p>
        </p:txBody>
      </p:sp>
      <p:sp>
        <p:nvSpPr>
          <p:cNvPr id="38" name="Text Box 14"/>
          <p:cNvSpPr txBox="1">
            <a:spLocks noChangeArrowheads="1"/>
          </p:cNvSpPr>
          <p:nvPr/>
        </p:nvSpPr>
        <p:spPr bwMode="auto">
          <a:xfrm>
            <a:off x="3489325" y="1382713"/>
            <a:ext cx="1958975" cy="396875"/>
          </a:xfrm>
          <a:prstGeom prst="rect">
            <a:avLst/>
          </a:prstGeom>
          <a:noFill/>
          <a:ln w="9525">
            <a:noFill/>
            <a:miter lim="800000"/>
            <a:headEnd/>
            <a:tailEnd/>
          </a:ln>
          <a:effectLst/>
        </p:spPr>
        <p:txBody>
          <a:bodyPr wrap="none">
            <a:spAutoFit/>
          </a:bodyPr>
          <a:lstStyle/>
          <a:p>
            <a:r>
              <a:rPr lang="en-US" sz="2000" dirty="0"/>
              <a:t>parent structure</a:t>
            </a:r>
          </a:p>
        </p:txBody>
      </p:sp>
      <p:sp>
        <p:nvSpPr>
          <p:cNvPr id="39" name="Line 16"/>
          <p:cNvSpPr>
            <a:spLocks noChangeShapeType="1"/>
          </p:cNvSpPr>
          <p:nvPr/>
        </p:nvSpPr>
        <p:spPr bwMode="auto">
          <a:xfrm>
            <a:off x="2819400" y="1600200"/>
            <a:ext cx="304800" cy="0"/>
          </a:xfrm>
          <a:prstGeom prst="line">
            <a:avLst/>
          </a:prstGeom>
          <a:noFill/>
          <a:ln w="9525">
            <a:solidFill>
              <a:schemeClr val="tx1"/>
            </a:solidFill>
            <a:round/>
            <a:headEnd/>
            <a:tailEnd type="triangle" w="med" len="med"/>
          </a:ln>
          <a:effectLst/>
        </p:spPr>
        <p:txBody>
          <a:bodyPr/>
          <a:lstStyle/>
          <a:p>
            <a:endParaRPr lang="en-US"/>
          </a:p>
        </p:txBody>
      </p:sp>
      <p:sp>
        <p:nvSpPr>
          <p:cNvPr id="40" name="Line 17"/>
          <p:cNvSpPr>
            <a:spLocks noChangeShapeType="1"/>
          </p:cNvSpPr>
          <p:nvPr/>
        </p:nvSpPr>
        <p:spPr bwMode="auto">
          <a:xfrm>
            <a:off x="5715000" y="1600200"/>
            <a:ext cx="304800" cy="0"/>
          </a:xfrm>
          <a:prstGeom prst="line">
            <a:avLst/>
          </a:prstGeom>
          <a:noFill/>
          <a:ln w="9525">
            <a:solidFill>
              <a:schemeClr val="tx1"/>
            </a:solidFill>
            <a:round/>
            <a:headEnd/>
            <a:tailEnd type="triangle" w="med" len="med"/>
          </a:ln>
          <a:effectLst/>
        </p:spPr>
        <p:txBody>
          <a:bodyPr/>
          <a:lstStyle/>
          <a:p>
            <a:endParaRPr lang="en-US"/>
          </a:p>
        </p:txBody>
      </p:sp>
      <p:sp>
        <p:nvSpPr>
          <p:cNvPr id="41" name="Text Box 12"/>
          <p:cNvSpPr txBox="1">
            <a:spLocks noChangeArrowheads="1"/>
          </p:cNvSpPr>
          <p:nvPr/>
        </p:nvSpPr>
        <p:spPr bwMode="auto">
          <a:xfrm>
            <a:off x="6232525" y="1382713"/>
            <a:ext cx="2559050" cy="701675"/>
          </a:xfrm>
          <a:prstGeom prst="rect">
            <a:avLst/>
          </a:prstGeom>
          <a:noFill/>
          <a:ln w="9525">
            <a:noFill/>
            <a:miter lim="800000"/>
            <a:headEnd/>
            <a:tailEnd/>
          </a:ln>
          <a:effectLst/>
        </p:spPr>
        <p:txBody>
          <a:bodyPr wrap="none">
            <a:spAutoFit/>
          </a:bodyPr>
          <a:lstStyle/>
          <a:p>
            <a:r>
              <a:rPr lang="en-US" sz="2000" dirty="0"/>
              <a:t>molecular structure =</a:t>
            </a:r>
          </a:p>
          <a:p>
            <a:r>
              <a:rPr lang="en-US" sz="2000" dirty="0"/>
              <a:t>square pyramidal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685800"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153400" y="6057900"/>
            <a:ext cx="381000" cy="647700"/>
          </a:xfrm>
          <a:prstGeom prst="rect">
            <a:avLst/>
          </a:prstGeom>
          <a:noFill/>
          <a:ln w="9525">
            <a:noFill/>
            <a:miter lim="800000"/>
            <a:headEnd/>
            <a:tailEnd/>
          </a:ln>
        </p:spPr>
        <p:txBody>
          <a:bodyPr>
            <a:spAutoFit/>
          </a:bodyPr>
          <a:lstStyle/>
          <a:p>
            <a:r>
              <a:rPr lang="en-US" sz="3600" dirty="0">
                <a:latin typeface="Adobe Gothic Std B"/>
                <a:ea typeface="Adobe Gothic Std B"/>
                <a:cs typeface="Adobe Gothic Std B"/>
              </a:rPr>
              <a:t>8</a:t>
            </a:r>
            <a:endParaRPr lang="ar-SA" sz="3600" dirty="0">
              <a:latin typeface="Adobe Gothic Std B"/>
              <a:ea typeface="Adobe Gothic Std B"/>
              <a:cs typeface="Adobe Gothic Std B"/>
            </a:endParaRPr>
          </a:p>
        </p:txBody>
      </p:sp>
      <p:sp>
        <p:nvSpPr>
          <p:cNvPr id="19" name="Rectangle 18"/>
          <p:cNvSpPr/>
          <p:nvPr/>
        </p:nvSpPr>
        <p:spPr>
          <a:xfrm>
            <a:off x="1928794" y="714356"/>
            <a:ext cx="5867398" cy="523220"/>
          </a:xfrm>
          <a:prstGeom prst="rect">
            <a:avLst/>
          </a:prstGeom>
          <a:solidFill>
            <a:srgbClr val="FFFF00"/>
          </a:solidFill>
          <a:ln>
            <a:solidFill>
              <a:srgbClr val="00B0F0"/>
            </a:solidFill>
          </a:ln>
          <a:effectLst>
            <a:glow rad="228600">
              <a:schemeClr val="accent1">
                <a:satMod val="175000"/>
                <a:alpha val="40000"/>
              </a:schemeClr>
            </a:glow>
          </a:effectLst>
        </p:spPr>
        <p:txBody>
          <a:bodyPr wrap="square">
            <a:spAutoFit/>
          </a:bodyPr>
          <a:lstStyle/>
          <a:p>
            <a:pPr algn="ctr"/>
            <a:r>
              <a:rPr lang="en-US" sz="2800" b="1" dirty="0">
                <a:solidFill>
                  <a:srgbClr val="CC3300"/>
                </a:solidFill>
                <a:latin typeface="Times New Roman" pitchFamily="18" charset="0"/>
                <a:cs typeface="Times New Roman" pitchFamily="18" charset="0"/>
              </a:rPr>
              <a:t>VSEPR:  Predicting the shape</a:t>
            </a:r>
          </a:p>
        </p:txBody>
      </p:sp>
      <p:sp>
        <p:nvSpPr>
          <p:cNvPr id="20" name="Rectangle 3"/>
          <p:cNvSpPr txBox="1">
            <a:spLocks noChangeArrowheads="1"/>
          </p:cNvSpPr>
          <p:nvPr/>
        </p:nvSpPr>
        <p:spPr>
          <a:xfrm>
            <a:off x="0" y="1214422"/>
            <a:ext cx="9144000" cy="4357718"/>
          </a:xfrm>
          <a:prstGeom prst="rect">
            <a:avLst/>
          </a:prstGeom>
        </p:spPr>
        <p:txBody>
          <a:bodyPr/>
          <a:lstStyle/>
          <a:p>
            <a:pPr marL="449263" marR="0" lvl="0" indent="-449263" algn="l" defTabSz="914400" eaLnBrk="1" fontAlgn="auto" latinLnBrk="0" hangingPunct="1">
              <a:spcBef>
                <a:spcPct val="20000"/>
              </a:spcBef>
              <a:spcAft>
                <a:spcPts val="0"/>
              </a:spcAft>
              <a:buClr>
                <a:schemeClr val="accent3"/>
              </a:buClr>
              <a:buSzPct val="95000"/>
              <a:buFont typeface="Wingdings" pitchFamily="2" charset="2"/>
              <a:buChar char="Ø"/>
              <a:tabLst/>
              <a:defRPr/>
            </a:pPr>
            <a:r>
              <a:rPr kumimoji="0" lang="en-US" sz="2400" b="1" i="0" u="none" strike="noStrike" kern="1200" cap="none" spc="0" normalizeH="0" baseline="0" noProof="0" dirty="0">
                <a:ln>
                  <a:noFill/>
                </a:ln>
                <a:solidFill>
                  <a:srgbClr val="000099"/>
                </a:solidFill>
                <a:effectLst/>
                <a:uLnTx/>
                <a:uFillTx/>
                <a:latin typeface="Times New Roman" pitchFamily="18" charset="0"/>
                <a:cs typeface="Times New Roman" pitchFamily="18" charset="0"/>
              </a:rPr>
              <a:t>Once the dot structure has been established, the shape of the molecule will follow one of basic shapes depending on:</a:t>
            </a:r>
          </a:p>
          <a:p>
            <a:pPr marL="449263" marR="0" lvl="1" indent="-269875" algn="l" defTabSz="914400" eaLnBrk="1" fontAlgn="auto" latinLnBrk="0" hangingPunct="1">
              <a:spcBef>
                <a:spcPct val="20000"/>
              </a:spcBef>
              <a:spcAft>
                <a:spcPts val="0"/>
              </a:spcAft>
              <a:buClr>
                <a:schemeClr val="accent1"/>
              </a:buClr>
              <a:buSzPct val="85000"/>
              <a:buFontTx/>
              <a:buAutoNum type="arabicPeriod"/>
              <a:tabLst/>
              <a:defRPr/>
            </a:pPr>
            <a:r>
              <a:rPr kumimoji="0" lang="en-US" sz="24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The number of regions of electron density around the central atom. </a:t>
            </a:r>
          </a:p>
          <a:p>
            <a:pPr marL="449263" marR="0" lvl="1" indent="-269875" algn="l" defTabSz="914400" eaLnBrk="1" fontAlgn="auto" latinLnBrk="0" hangingPunct="1">
              <a:spcBef>
                <a:spcPct val="20000"/>
              </a:spcBef>
              <a:spcAft>
                <a:spcPts val="0"/>
              </a:spcAft>
              <a:buClr>
                <a:schemeClr val="accent1"/>
              </a:buClr>
              <a:buSzPct val="85000"/>
              <a:buFontTx/>
              <a:buAutoNum type="arabicPeriod"/>
              <a:tabLst/>
              <a:defRPr/>
            </a:pPr>
            <a:r>
              <a:rPr kumimoji="0" lang="en-US" sz="24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The number of regions of electron density that are occupied by bonding electrons.</a:t>
            </a:r>
            <a:endParaRPr lang="en-US" sz="2400" b="1" dirty="0">
              <a:latin typeface="Times New Roman" pitchFamily="18" charset="0"/>
              <a:cs typeface="Times New Roman" pitchFamily="18" charset="0"/>
            </a:endParaRPr>
          </a:p>
          <a:p>
            <a:pPr marL="609600" indent="-609600">
              <a:buFont typeface="Wingdings" pitchFamily="2" charset="2"/>
              <a:buChar char="Ø"/>
            </a:pPr>
            <a:r>
              <a:rPr lang="en-US" sz="2400" b="1" dirty="0">
                <a:solidFill>
                  <a:srgbClr val="000099"/>
                </a:solidFill>
                <a:latin typeface="Times New Roman" pitchFamily="18" charset="0"/>
                <a:cs typeface="Times New Roman" pitchFamily="18" charset="0"/>
              </a:rPr>
              <a:t>The number of regions of electron density around the central atom determines the </a:t>
            </a:r>
            <a:r>
              <a:rPr lang="en-US" sz="2800" b="1" dirty="0">
                <a:solidFill>
                  <a:srgbClr val="CC0066"/>
                </a:solidFill>
                <a:latin typeface="Times New Roman" pitchFamily="18" charset="0"/>
                <a:cs typeface="Times New Roman" pitchFamily="18" charset="0"/>
              </a:rPr>
              <a:t>electron skeleton</a:t>
            </a:r>
          </a:p>
          <a:p>
            <a:pPr marL="609600" indent="-609600">
              <a:buFont typeface="Wingdings" pitchFamily="2" charset="2"/>
              <a:buChar char="Ø"/>
            </a:pPr>
            <a:r>
              <a:rPr lang="en-US" sz="2400" b="1" dirty="0">
                <a:solidFill>
                  <a:srgbClr val="000099"/>
                </a:solidFill>
                <a:latin typeface="Times New Roman" pitchFamily="18" charset="0"/>
                <a:cs typeface="Times New Roman" pitchFamily="18" charset="0"/>
              </a:rPr>
              <a:t>The number of regions of electron density that are occupied by bonding electrons and hence other atoms determines the </a:t>
            </a:r>
            <a:r>
              <a:rPr lang="en-US" sz="2800" b="1" dirty="0">
                <a:solidFill>
                  <a:srgbClr val="CC0066"/>
                </a:solidFill>
                <a:latin typeface="Times New Roman" pitchFamily="18" charset="0"/>
                <a:cs typeface="Times New Roman" pitchFamily="18" charset="0"/>
              </a:rPr>
              <a:t>actual</a:t>
            </a:r>
            <a:r>
              <a:rPr lang="en-US" sz="2400" b="1" dirty="0">
                <a:solidFill>
                  <a:srgbClr val="FFFF99"/>
                </a:solidFill>
                <a:latin typeface="Times New Roman" pitchFamily="18" charset="0"/>
                <a:cs typeface="Times New Roman" pitchFamily="18" charset="0"/>
              </a:rPr>
              <a:t> </a:t>
            </a:r>
            <a:r>
              <a:rPr lang="en-US" sz="2800" b="1" dirty="0">
                <a:solidFill>
                  <a:srgbClr val="CC0066"/>
                </a:solidFill>
                <a:latin typeface="Times New Roman" pitchFamily="18" charset="0"/>
                <a:cs typeface="Times New Roman" pitchFamily="18" charset="0"/>
              </a:rPr>
              <a:t>shape</a:t>
            </a:r>
            <a:r>
              <a:rPr lang="en-US" sz="2400" b="1" dirty="0">
                <a:solidFill>
                  <a:srgbClr val="FFFF99"/>
                </a:solidFill>
                <a:latin typeface="Times New Roman" pitchFamily="18" charset="0"/>
                <a:cs typeface="Times New Roman" pitchFamily="18"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685800"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153400" y="6057900"/>
            <a:ext cx="381000" cy="647700"/>
          </a:xfrm>
          <a:prstGeom prst="rect">
            <a:avLst/>
          </a:prstGeom>
          <a:noFill/>
          <a:ln w="9525">
            <a:noFill/>
            <a:miter lim="800000"/>
            <a:headEnd/>
            <a:tailEnd/>
          </a:ln>
        </p:spPr>
        <p:txBody>
          <a:bodyPr>
            <a:spAutoFit/>
          </a:bodyPr>
          <a:lstStyle/>
          <a:p>
            <a:r>
              <a:rPr lang="en-US" sz="3600" dirty="0">
                <a:latin typeface="Adobe Gothic Std B"/>
                <a:ea typeface="Adobe Gothic Std B"/>
                <a:cs typeface="Adobe Gothic Std B"/>
              </a:rPr>
              <a:t>9</a:t>
            </a:r>
            <a:endParaRPr lang="ar-SA" sz="3600" dirty="0">
              <a:latin typeface="Adobe Gothic Std B"/>
              <a:ea typeface="Adobe Gothic Std B"/>
              <a:cs typeface="Adobe Gothic Std B"/>
            </a:endParaRPr>
          </a:p>
        </p:txBody>
      </p:sp>
      <p:sp>
        <p:nvSpPr>
          <p:cNvPr id="21" name="Rectangle 20"/>
          <p:cNvSpPr/>
          <p:nvPr/>
        </p:nvSpPr>
        <p:spPr>
          <a:xfrm>
            <a:off x="1714480" y="571480"/>
            <a:ext cx="5867398" cy="584775"/>
          </a:xfrm>
          <a:prstGeom prst="rect">
            <a:avLst/>
          </a:prstGeom>
          <a:solidFill>
            <a:srgbClr val="FFFF00"/>
          </a:solidFill>
          <a:ln>
            <a:solidFill>
              <a:srgbClr val="00B0F0"/>
            </a:solidFill>
          </a:ln>
          <a:effectLst>
            <a:glow rad="228600">
              <a:schemeClr val="accent1">
                <a:satMod val="175000"/>
                <a:alpha val="40000"/>
              </a:schemeClr>
            </a:glow>
          </a:effectLst>
        </p:spPr>
        <p:txBody>
          <a:bodyPr wrap="square">
            <a:spAutoFit/>
          </a:bodyPr>
          <a:lstStyle/>
          <a:p>
            <a:pPr algn="ctr"/>
            <a:r>
              <a:rPr lang="en-US" sz="3200" b="1" dirty="0">
                <a:solidFill>
                  <a:srgbClr val="000099"/>
                </a:solidFill>
                <a:latin typeface="Times New Roman" pitchFamily="18" charset="0"/>
                <a:cs typeface="Times New Roman" pitchFamily="18" charset="0"/>
              </a:rPr>
              <a:t>Basic Molecular Shapes</a:t>
            </a:r>
          </a:p>
        </p:txBody>
      </p:sp>
      <p:pic>
        <p:nvPicPr>
          <p:cNvPr id="22" name="Picture 21"/>
          <p:cNvPicPr>
            <a:picLocks noChangeAspect="1" noChangeArrowheads="1"/>
          </p:cNvPicPr>
          <p:nvPr/>
        </p:nvPicPr>
        <p:blipFill>
          <a:blip r:embed="rId5"/>
          <a:srcRect/>
          <a:stretch>
            <a:fillRect/>
          </a:stretch>
        </p:blipFill>
        <p:spPr bwMode="auto">
          <a:xfrm>
            <a:off x="1222375" y="1844824"/>
            <a:ext cx="6525344" cy="4040786"/>
          </a:xfrm>
          <a:prstGeom prst="rect">
            <a:avLst/>
          </a:prstGeom>
          <a:noFill/>
          <a:ln w="25400">
            <a:solidFill>
              <a:srgbClr val="990099"/>
            </a:solidFill>
          </a:ln>
        </p:spPr>
      </p:pic>
      <p:sp>
        <p:nvSpPr>
          <p:cNvPr id="23" name="Rectangle 22"/>
          <p:cNvSpPr/>
          <p:nvPr/>
        </p:nvSpPr>
        <p:spPr>
          <a:xfrm>
            <a:off x="285720" y="1071546"/>
            <a:ext cx="9144000" cy="461665"/>
          </a:xfrm>
          <a:prstGeom prst="rect">
            <a:avLst/>
          </a:prstGeom>
        </p:spPr>
        <p:txBody>
          <a:bodyPr wrap="square">
            <a:spAutoFit/>
          </a:bodyPr>
          <a:lstStyle/>
          <a:p>
            <a:r>
              <a:rPr lang="en-US" sz="2400" b="1" dirty="0">
                <a:solidFill>
                  <a:srgbClr val="CC0000"/>
                </a:solidFill>
                <a:latin typeface="Times New Roman" pitchFamily="18" charset="0"/>
                <a:cs typeface="Times New Roman" pitchFamily="18" charset="0"/>
              </a:rPr>
              <a:t>The most common shapes of molecules are shown below:</a:t>
            </a:r>
            <a:endParaRPr lang="en-US" sz="2400" dirty="0">
              <a:solidFill>
                <a:srgbClr val="CC0000"/>
              </a:solidFill>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928718"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072462" y="6072206"/>
            <a:ext cx="785818" cy="646331"/>
          </a:xfrm>
          <a:prstGeom prst="rect">
            <a:avLst/>
          </a:prstGeom>
          <a:noFill/>
          <a:ln w="9525">
            <a:noFill/>
            <a:miter lim="800000"/>
            <a:headEnd/>
            <a:tailEnd/>
          </a:ln>
        </p:spPr>
        <p:txBody>
          <a:bodyPr wrap="square">
            <a:spAutoFit/>
          </a:bodyPr>
          <a:lstStyle/>
          <a:p>
            <a:r>
              <a:rPr lang="en-US" sz="3600" dirty="0">
                <a:latin typeface="Adobe Gothic Std B"/>
                <a:ea typeface="Adobe Gothic Std B"/>
                <a:cs typeface="Adobe Gothic Std B"/>
              </a:rPr>
              <a:t>10</a:t>
            </a:r>
            <a:endParaRPr lang="ar-SA" sz="3600" dirty="0">
              <a:latin typeface="Adobe Gothic Std B"/>
              <a:ea typeface="Adobe Gothic Std B"/>
              <a:cs typeface="Adobe Gothic Std B"/>
            </a:endParaRPr>
          </a:p>
        </p:txBody>
      </p:sp>
      <p:sp>
        <p:nvSpPr>
          <p:cNvPr id="19" name="Rectangle 18"/>
          <p:cNvSpPr/>
          <p:nvPr/>
        </p:nvSpPr>
        <p:spPr>
          <a:xfrm>
            <a:off x="1714480" y="571480"/>
            <a:ext cx="5867398" cy="584775"/>
          </a:xfrm>
          <a:prstGeom prst="rect">
            <a:avLst/>
          </a:prstGeom>
          <a:solidFill>
            <a:srgbClr val="FFFF00"/>
          </a:solidFill>
          <a:ln>
            <a:solidFill>
              <a:srgbClr val="00B0F0"/>
            </a:solidFill>
          </a:ln>
          <a:effectLst>
            <a:glow rad="228600">
              <a:schemeClr val="accent1">
                <a:satMod val="175000"/>
                <a:alpha val="40000"/>
              </a:schemeClr>
            </a:glow>
          </a:effectLst>
        </p:spPr>
        <p:txBody>
          <a:bodyPr wrap="square">
            <a:spAutoFit/>
          </a:bodyPr>
          <a:lstStyle/>
          <a:p>
            <a:pPr algn="ctr"/>
            <a:r>
              <a:rPr lang="en-US" sz="3200" b="1" dirty="0">
                <a:solidFill>
                  <a:srgbClr val="000099"/>
                </a:solidFill>
                <a:latin typeface="Times New Roman" pitchFamily="18" charset="0"/>
                <a:cs typeface="Times New Roman" pitchFamily="18" charset="0"/>
              </a:rPr>
              <a:t>Linear Molecules</a:t>
            </a:r>
          </a:p>
        </p:txBody>
      </p:sp>
      <p:sp>
        <p:nvSpPr>
          <p:cNvPr id="20" name="Rectangle 19"/>
          <p:cNvSpPr/>
          <p:nvPr/>
        </p:nvSpPr>
        <p:spPr>
          <a:xfrm>
            <a:off x="285720" y="1142984"/>
            <a:ext cx="9144000" cy="461665"/>
          </a:xfrm>
          <a:prstGeom prst="rect">
            <a:avLst/>
          </a:prstGeom>
        </p:spPr>
        <p:txBody>
          <a:bodyPr wrap="square">
            <a:spAutoFit/>
          </a:bodyPr>
          <a:lstStyle/>
          <a:p>
            <a:r>
              <a:rPr lang="en-US" sz="2400" b="1" dirty="0">
                <a:solidFill>
                  <a:srgbClr val="D60093"/>
                </a:solidFill>
                <a:latin typeface="Times New Roman" pitchFamily="18" charset="0"/>
                <a:cs typeface="Times New Roman" pitchFamily="18" charset="0"/>
              </a:rPr>
              <a:t>Linear molecules have only two regions of electron density. </a:t>
            </a:r>
            <a:endParaRPr lang="en-US" sz="2400" dirty="0">
              <a:solidFill>
                <a:srgbClr val="D60093"/>
              </a:solidFill>
              <a:latin typeface="Times New Roman" pitchFamily="18" charset="0"/>
              <a:cs typeface="Times New Roman" pitchFamily="18" charset="0"/>
            </a:endParaRPr>
          </a:p>
        </p:txBody>
      </p:sp>
      <p:pic>
        <p:nvPicPr>
          <p:cNvPr id="21" name="Picture 20"/>
          <p:cNvPicPr>
            <a:picLocks noChangeAspect="1" noChangeArrowheads="1"/>
          </p:cNvPicPr>
          <p:nvPr/>
        </p:nvPicPr>
        <p:blipFill>
          <a:blip r:embed="rId5"/>
          <a:srcRect/>
          <a:stretch>
            <a:fillRect/>
          </a:stretch>
        </p:blipFill>
        <p:spPr bwMode="auto">
          <a:xfrm>
            <a:off x="1475656" y="1786158"/>
            <a:ext cx="5949280" cy="4333891"/>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928718"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072462" y="6072206"/>
            <a:ext cx="785818" cy="646331"/>
          </a:xfrm>
          <a:prstGeom prst="rect">
            <a:avLst/>
          </a:prstGeom>
          <a:noFill/>
          <a:ln w="9525">
            <a:noFill/>
            <a:miter lim="800000"/>
            <a:headEnd/>
            <a:tailEnd/>
          </a:ln>
        </p:spPr>
        <p:txBody>
          <a:bodyPr wrap="square">
            <a:spAutoFit/>
          </a:bodyPr>
          <a:lstStyle/>
          <a:p>
            <a:r>
              <a:rPr lang="en-US" sz="3600" dirty="0">
                <a:latin typeface="Adobe Gothic Std B"/>
                <a:ea typeface="Adobe Gothic Std B"/>
                <a:cs typeface="Adobe Gothic Std B"/>
              </a:rPr>
              <a:t>11</a:t>
            </a:r>
            <a:endParaRPr lang="ar-SA" sz="3600" dirty="0">
              <a:latin typeface="Adobe Gothic Std B"/>
              <a:ea typeface="Adobe Gothic Std B"/>
              <a:cs typeface="Adobe Gothic Std B"/>
            </a:endParaRPr>
          </a:p>
        </p:txBody>
      </p:sp>
      <p:sp>
        <p:nvSpPr>
          <p:cNvPr id="21" name="Rectangle 20"/>
          <p:cNvSpPr/>
          <p:nvPr/>
        </p:nvSpPr>
        <p:spPr>
          <a:xfrm>
            <a:off x="1857356" y="428604"/>
            <a:ext cx="5867398" cy="584775"/>
          </a:xfrm>
          <a:prstGeom prst="rect">
            <a:avLst/>
          </a:prstGeom>
          <a:solidFill>
            <a:srgbClr val="FFFF00"/>
          </a:solidFill>
          <a:ln>
            <a:solidFill>
              <a:srgbClr val="00B0F0"/>
            </a:solidFill>
          </a:ln>
          <a:effectLst>
            <a:glow rad="228600">
              <a:schemeClr val="accent1">
                <a:satMod val="175000"/>
                <a:alpha val="40000"/>
              </a:schemeClr>
            </a:glow>
          </a:effectLst>
        </p:spPr>
        <p:txBody>
          <a:bodyPr wrap="square">
            <a:spAutoFit/>
          </a:bodyPr>
          <a:lstStyle/>
          <a:p>
            <a:pPr algn="ctr"/>
            <a:r>
              <a:rPr lang="en-US" sz="3200" b="1" dirty="0">
                <a:solidFill>
                  <a:srgbClr val="000099"/>
                </a:solidFill>
                <a:latin typeface="Times New Roman" pitchFamily="18" charset="0"/>
                <a:cs typeface="Times New Roman" pitchFamily="18" charset="0"/>
              </a:rPr>
              <a:t>Angular or Bent</a:t>
            </a:r>
          </a:p>
        </p:txBody>
      </p:sp>
      <p:sp>
        <p:nvSpPr>
          <p:cNvPr id="22" name="Rectangle 21"/>
          <p:cNvSpPr/>
          <p:nvPr/>
        </p:nvSpPr>
        <p:spPr>
          <a:xfrm>
            <a:off x="214282" y="1000108"/>
            <a:ext cx="9144000" cy="830997"/>
          </a:xfrm>
          <a:prstGeom prst="rect">
            <a:avLst/>
          </a:prstGeom>
        </p:spPr>
        <p:txBody>
          <a:bodyPr wrap="square">
            <a:spAutoFit/>
          </a:bodyPr>
          <a:lstStyle/>
          <a:p>
            <a:r>
              <a:rPr lang="en-US" sz="2400" b="1" dirty="0">
                <a:solidFill>
                  <a:srgbClr val="CC0000"/>
                </a:solidFill>
                <a:latin typeface="Times New Roman" pitchFamily="18" charset="0"/>
                <a:cs typeface="Times New Roman" pitchFamily="18" charset="0"/>
              </a:rPr>
              <a:t>Angular or bent molecules have at least 3 regions of electron density, but only two are occupied.</a:t>
            </a:r>
            <a:r>
              <a:rPr lang="en-US" sz="2400" b="1" dirty="0">
                <a:latin typeface="Arial" charset="0"/>
              </a:rPr>
              <a:t> </a:t>
            </a:r>
            <a:endParaRPr lang="en-US" sz="2400" dirty="0">
              <a:solidFill>
                <a:srgbClr val="CC0000"/>
              </a:solidFill>
              <a:latin typeface="Times New Roman" pitchFamily="18" charset="0"/>
              <a:cs typeface="Times New Roman" pitchFamily="18" charset="0"/>
            </a:endParaRPr>
          </a:p>
        </p:txBody>
      </p:sp>
      <p:pic>
        <p:nvPicPr>
          <p:cNvPr id="23" name="Picture 5"/>
          <p:cNvPicPr>
            <a:picLocks noChangeAspect="1" noChangeArrowheads="1"/>
          </p:cNvPicPr>
          <p:nvPr/>
        </p:nvPicPr>
        <p:blipFill>
          <a:blip r:embed="rId5"/>
          <a:srcRect/>
          <a:stretch>
            <a:fillRect/>
          </a:stretch>
        </p:blipFill>
        <p:spPr bwMode="auto">
          <a:xfrm>
            <a:off x="1326304" y="1932920"/>
            <a:ext cx="6165898" cy="4310082"/>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7715272" y="5943600"/>
            <a:ext cx="1428728"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072462" y="6072206"/>
            <a:ext cx="785818" cy="646331"/>
          </a:xfrm>
          <a:prstGeom prst="rect">
            <a:avLst/>
          </a:prstGeom>
          <a:noFill/>
          <a:ln w="9525">
            <a:noFill/>
            <a:miter lim="800000"/>
            <a:headEnd/>
            <a:tailEnd/>
          </a:ln>
        </p:spPr>
        <p:txBody>
          <a:bodyPr wrap="square">
            <a:spAutoFit/>
          </a:bodyPr>
          <a:lstStyle/>
          <a:p>
            <a:r>
              <a:rPr lang="en-US" sz="3600" dirty="0">
                <a:latin typeface="Adobe Gothic Std B"/>
                <a:ea typeface="Adobe Gothic Std B"/>
                <a:cs typeface="Adobe Gothic Std B"/>
              </a:rPr>
              <a:t>12</a:t>
            </a:r>
            <a:endParaRPr lang="ar-SA" sz="3600" dirty="0">
              <a:latin typeface="Adobe Gothic Std B"/>
              <a:ea typeface="Adobe Gothic Std B"/>
              <a:cs typeface="Adobe Gothic Std B"/>
            </a:endParaRPr>
          </a:p>
        </p:txBody>
      </p:sp>
      <p:sp>
        <p:nvSpPr>
          <p:cNvPr id="19" name="Rectangle 18"/>
          <p:cNvSpPr/>
          <p:nvPr/>
        </p:nvSpPr>
        <p:spPr>
          <a:xfrm>
            <a:off x="1785918" y="500042"/>
            <a:ext cx="5867398" cy="584775"/>
          </a:xfrm>
          <a:prstGeom prst="rect">
            <a:avLst/>
          </a:prstGeom>
          <a:solidFill>
            <a:srgbClr val="FFFF00"/>
          </a:solidFill>
          <a:ln>
            <a:solidFill>
              <a:srgbClr val="00B0F0"/>
            </a:solidFill>
          </a:ln>
          <a:effectLst>
            <a:glow rad="228600">
              <a:schemeClr val="accent1">
                <a:satMod val="175000"/>
                <a:alpha val="40000"/>
              </a:schemeClr>
            </a:glow>
          </a:effectLst>
        </p:spPr>
        <p:txBody>
          <a:bodyPr wrap="square">
            <a:spAutoFit/>
          </a:bodyPr>
          <a:lstStyle/>
          <a:p>
            <a:pPr algn="ctr"/>
            <a:r>
              <a:rPr lang="en-US" sz="3200" b="1" dirty="0">
                <a:solidFill>
                  <a:srgbClr val="CC0000"/>
                </a:solidFill>
                <a:latin typeface="Times New Roman" pitchFamily="18" charset="0"/>
                <a:cs typeface="Times New Roman" pitchFamily="18" charset="0"/>
              </a:rPr>
              <a:t>Triangular Planar</a:t>
            </a:r>
          </a:p>
        </p:txBody>
      </p:sp>
      <p:sp>
        <p:nvSpPr>
          <p:cNvPr id="20" name="Rectangle 19"/>
          <p:cNvSpPr/>
          <p:nvPr/>
        </p:nvSpPr>
        <p:spPr>
          <a:xfrm>
            <a:off x="251520" y="1187794"/>
            <a:ext cx="9089540" cy="830997"/>
          </a:xfrm>
          <a:prstGeom prst="rect">
            <a:avLst/>
          </a:prstGeom>
        </p:spPr>
        <p:txBody>
          <a:bodyPr wrap="square">
            <a:spAutoFit/>
          </a:bodyPr>
          <a:lstStyle/>
          <a:p>
            <a:pPr marL="58738" indent="301625">
              <a:buFontTx/>
              <a:buNone/>
            </a:pPr>
            <a:r>
              <a:rPr lang="en-US" sz="2400" b="1" dirty="0">
                <a:solidFill>
                  <a:srgbClr val="000099"/>
                </a:solidFill>
                <a:latin typeface="Times New Roman" pitchFamily="18" charset="0"/>
                <a:cs typeface="Times New Roman" pitchFamily="18" charset="0"/>
              </a:rPr>
              <a:t>Triangular planar molecules have three regions of electron density. All are occupied by other atoms.</a:t>
            </a:r>
          </a:p>
        </p:txBody>
      </p:sp>
      <p:pic>
        <p:nvPicPr>
          <p:cNvPr id="21" name="Picture 1029"/>
          <p:cNvPicPr>
            <a:picLocks noChangeAspect="1" noChangeArrowheads="1"/>
          </p:cNvPicPr>
          <p:nvPr/>
        </p:nvPicPr>
        <p:blipFill>
          <a:blip r:embed="rId5"/>
          <a:srcRect/>
          <a:stretch>
            <a:fillRect/>
          </a:stretch>
        </p:blipFill>
        <p:spPr bwMode="auto">
          <a:xfrm>
            <a:off x="1694022" y="2154710"/>
            <a:ext cx="5267641" cy="4010507"/>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928718"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072462" y="6072206"/>
            <a:ext cx="785818" cy="646331"/>
          </a:xfrm>
          <a:prstGeom prst="rect">
            <a:avLst/>
          </a:prstGeom>
          <a:noFill/>
          <a:ln w="9525">
            <a:noFill/>
            <a:miter lim="800000"/>
            <a:headEnd/>
            <a:tailEnd/>
          </a:ln>
        </p:spPr>
        <p:txBody>
          <a:bodyPr wrap="square">
            <a:spAutoFit/>
          </a:bodyPr>
          <a:lstStyle/>
          <a:p>
            <a:r>
              <a:rPr lang="en-US" sz="3600" dirty="0">
                <a:latin typeface="Adobe Gothic Std B"/>
                <a:ea typeface="Adobe Gothic Std B"/>
                <a:cs typeface="Adobe Gothic Std B"/>
              </a:rPr>
              <a:t>13</a:t>
            </a:r>
            <a:endParaRPr lang="ar-SA" sz="3600" dirty="0">
              <a:latin typeface="Adobe Gothic Std B"/>
              <a:ea typeface="Adobe Gothic Std B"/>
              <a:cs typeface="Adobe Gothic Std B"/>
            </a:endParaRPr>
          </a:p>
        </p:txBody>
      </p:sp>
      <p:sp>
        <p:nvSpPr>
          <p:cNvPr id="21" name="Rectangle 20"/>
          <p:cNvSpPr/>
          <p:nvPr/>
        </p:nvSpPr>
        <p:spPr>
          <a:xfrm>
            <a:off x="1643042" y="428604"/>
            <a:ext cx="5867398" cy="584775"/>
          </a:xfrm>
          <a:prstGeom prst="rect">
            <a:avLst/>
          </a:prstGeom>
          <a:solidFill>
            <a:srgbClr val="FFFF00"/>
          </a:solidFill>
          <a:ln>
            <a:solidFill>
              <a:srgbClr val="00B0F0"/>
            </a:solidFill>
          </a:ln>
          <a:effectLst>
            <a:glow rad="228600">
              <a:schemeClr val="accent1">
                <a:satMod val="175000"/>
                <a:alpha val="40000"/>
              </a:schemeClr>
            </a:glow>
          </a:effectLst>
        </p:spPr>
        <p:txBody>
          <a:bodyPr wrap="square">
            <a:spAutoFit/>
          </a:bodyPr>
          <a:lstStyle/>
          <a:p>
            <a:pPr algn="ctr"/>
            <a:r>
              <a:rPr lang="en-US" sz="3200" b="1" dirty="0">
                <a:solidFill>
                  <a:srgbClr val="000099"/>
                </a:solidFill>
                <a:latin typeface="Times New Roman" pitchFamily="18" charset="0"/>
                <a:cs typeface="Times New Roman" pitchFamily="18" charset="0"/>
              </a:rPr>
              <a:t>Tetrahedron</a:t>
            </a:r>
          </a:p>
        </p:txBody>
      </p:sp>
      <p:sp>
        <p:nvSpPr>
          <p:cNvPr id="22" name="Rectangle 21"/>
          <p:cNvSpPr/>
          <p:nvPr/>
        </p:nvSpPr>
        <p:spPr>
          <a:xfrm>
            <a:off x="529488" y="1074666"/>
            <a:ext cx="8390166" cy="830997"/>
          </a:xfrm>
          <a:prstGeom prst="rect">
            <a:avLst/>
          </a:prstGeom>
        </p:spPr>
        <p:txBody>
          <a:bodyPr wrap="square">
            <a:spAutoFit/>
          </a:bodyPr>
          <a:lstStyle/>
          <a:p>
            <a:pPr indent="269875">
              <a:buFontTx/>
              <a:buNone/>
            </a:pPr>
            <a:r>
              <a:rPr lang="en-US" sz="2400" b="1" dirty="0">
                <a:solidFill>
                  <a:srgbClr val="CC0000"/>
                </a:solidFill>
                <a:latin typeface="Times New Roman" pitchFamily="18" charset="0"/>
                <a:cs typeface="Times New Roman" pitchFamily="18" charset="0"/>
              </a:rPr>
              <a:t>Tetrahedral molecules have four regions of electron density. All are occupied by other atoms:</a:t>
            </a:r>
          </a:p>
        </p:txBody>
      </p:sp>
      <p:pic>
        <p:nvPicPr>
          <p:cNvPr id="23" name="Picture 5"/>
          <p:cNvPicPr>
            <a:picLocks noChangeAspect="1" noChangeArrowheads="1"/>
          </p:cNvPicPr>
          <p:nvPr/>
        </p:nvPicPr>
        <p:blipFill>
          <a:blip r:embed="rId5"/>
          <a:srcRect l="1515" r="3030"/>
          <a:stretch>
            <a:fillRect/>
          </a:stretch>
        </p:blipFill>
        <p:spPr bwMode="auto">
          <a:xfrm>
            <a:off x="1547664" y="1923079"/>
            <a:ext cx="5734420" cy="4629369"/>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1143000"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072462" y="6072206"/>
            <a:ext cx="785818" cy="646331"/>
          </a:xfrm>
          <a:prstGeom prst="rect">
            <a:avLst/>
          </a:prstGeom>
          <a:noFill/>
          <a:ln w="9525">
            <a:noFill/>
            <a:miter lim="800000"/>
            <a:headEnd/>
            <a:tailEnd/>
          </a:ln>
        </p:spPr>
        <p:txBody>
          <a:bodyPr wrap="square">
            <a:spAutoFit/>
          </a:bodyPr>
          <a:lstStyle/>
          <a:p>
            <a:r>
              <a:rPr lang="en-US" sz="3600" dirty="0">
                <a:latin typeface="Adobe Gothic Std B"/>
                <a:ea typeface="Adobe Gothic Std B"/>
                <a:cs typeface="Adobe Gothic Std B"/>
              </a:rPr>
              <a:t>14</a:t>
            </a:r>
            <a:endParaRPr lang="ar-SA" sz="3600" dirty="0">
              <a:latin typeface="Adobe Gothic Std B"/>
              <a:ea typeface="Adobe Gothic Std B"/>
              <a:cs typeface="Adobe Gothic Std B"/>
            </a:endParaRPr>
          </a:p>
        </p:txBody>
      </p:sp>
      <p:sp>
        <p:nvSpPr>
          <p:cNvPr id="19" name="Rectangle 18"/>
          <p:cNvSpPr/>
          <p:nvPr/>
        </p:nvSpPr>
        <p:spPr>
          <a:xfrm>
            <a:off x="2000232" y="571480"/>
            <a:ext cx="5867398" cy="584775"/>
          </a:xfrm>
          <a:prstGeom prst="rect">
            <a:avLst/>
          </a:prstGeom>
          <a:solidFill>
            <a:srgbClr val="FFFF00"/>
          </a:solidFill>
          <a:ln>
            <a:solidFill>
              <a:srgbClr val="00B0F0"/>
            </a:solidFill>
          </a:ln>
          <a:effectLst>
            <a:glow rad="228600">
              <a:schemeClr val="accent1">
                <a:satMod val="175000"/>
                <a:alpha val="40000"/>
              </a:schemeClr>
            </a:glow>
          </a:effectLst>
        </p:spPr>
        <p:txBody>
          <a:bodyPr wrap="square">
            <a:spAutoFit/>
          </a:bodyPr>
          <a:lstStyle/>
          <a:p>
            <a:pPr algn="ctr"/>
            <a:r>
              <a:rPr lang="en-US" sz="3200" b="1" dirty="0" err="1">
                <a:solidFill>
                  <a:srgbClr val="CC0000"/>
                </a:solidFill>
                <a:latin typeface="Times New Roman" pitchFamily="18" charset="0"/>
                <a:cs typeface="Times New Roman" pitchFamily="18" charset="0"/>
              </a:rPr>
              <a:t>Triagonal</a:t>
            </a:r>
            <a:r>
              <a:rPr lang="en-US" sz="3200" b="1" dirty="0">
                <a:solidFill>
                  <a:srgbClr val="CC0000"/>
                </a:solidFill>
                <a:latin typeface="Times New Roman" pitchFamily="18" charset="0"/>
                <a:cs typeface="Times New Roman" pitchFamily="18" charset="0"/>
              </a:rPr>
              <a:t> </a:t>
            </a:r>
            <a:r>
              <a:rPr lang="en-US" sz="3200" b="1" dirty="0" err="1">
                <a:solidFill>
                  <a:srgbClr val="CC0000"/>
                </a:solidFill>
                <a:latin typeface="Times New Roman" pitchFamily="18" charset="0"/>
                <a:cs typeface="Times New Roman" pitchFamily="18" charset="0"/>
              </a:rPr>
              <a:t>Bipyramid</a:t>
            </a:r>
            <a:endParaRPr lang="en-US" sz="3200" b="1" dirty="0">
              <a:solidFill>
                <a:srgbClr val="CC0000"/>
              </a:solidFill>
              <a:latin typeface="Times New Roman" pitchFamily="18" charset="0"/>
              <a:cs typeface="Times New Roman" pitchFamily="18" charset="0"/>
            </a:endParaRPr>
          </a:p>
        </p:txBody>
      </p:sp>
      <p:sp>
        <p:nvSpPr>
          <p:cNvPr id="20" name="Rectangle 19"/>
          <p:cNvSpPr/>
          <p:nvPr/>
        </p:nvSpPr>
        <p:spPr>
          <a:xfrm>
            <a:off x="0" y="1071546"/>
            <a:ext cx="9372600" cy="1569660"/>
          </a:xfrm>
          <a:prstGeom prst="rect">
            <a:avLst/>
          </a:prstGeom>
        </p:spPr>
        <p:txBody>
          <a:bodyPr wrap="square">
            <a:spAutoFit/>
          </a:bodyPr>
          <a:lstStyle/>
          <a:p>
            <a:pPr indent="269875">
              <a:buFontTx/>
              <a:buNone/>
            </a:pPr>
            <a:r>
              <a:rPr lang="en-US" sz="2400" b="1" dirty="0">
                <a:latin typeface="Arial" charset="0"/>
              </a:rPr>
              <a:t>A few molecules have </a:t>
            </a:r>
            <a:r>
              <a:rPr lang="en-US" sz="2400" b="1" dirty="0">
                <a:solidFill>
                  <a:srgbClr val="000099"/>
                </a:solidFill>
                <a:latin typeface="Arial" charset="0"/>
              </a:rPr>
              <a:t>expanded valence shells </a:t>
            </a:r>
            <a:r>
              <a:rPr lang="en-US" sz="2400" b="1" dirty="0">
                <a:latin typeface="Arial" charset="0"/>
              </a:rPr>
              <a:t>around the central atom.  Hence there are </a:t>
            </a:r>
            <a:r>
              <a:rPr lang="en-US" sz="2400" b="1" dirty="0">
                <a:solidFill>
                  <a:srgbClr val="000099"/>
                </a:solidFill>
                <a:latin typeface="Arial" charset="0"/>
              </a:rPr>
              <a:t>five pairs of valence electrons</a:t>
            </a:r>
            <a:r>
              <a:rPr lang="en-US" sz="2400" b="1" dirty="0">
                <a:latin typeface="Arial" charset="0"/>
              </a:rPr>
              <a:t>.  The structure of such molecules with five pairs around one is called </a:t>
            </a:r>
            <a:r>
              <a:rPr lang="en-US" sz="2400" b="1" dirty="0" err="1">
                <a:latin typeface="Arial" charset="0"/>
              </a:rPr>
              <a:t>trigonal</a:t>
            </a:r>
            <a:r>
              <a:rPr lang="en-US" sz="2400" b="1" dirty="0">
                <a:latin typeface="Arial" charset="0"/>
              </a:rPr>
              <a:t> </a:t>
            </a:r>
            <a:r>
              <a:rPr lang="en-US" sz="2400" b="1" dirty="0" err="1">
                <a:latin typeface="Arial" charset="0"/>
              </a:rPr>
              <a:t>bipyramid</a:t>
            </a:r>
            <a:r>
              <a:rPr lang="en-US" sz="2400" b="1" dirty="0">
                <a:latin typeface="Arial" charset="0"/>
              </a:rPr>
              <a:t>. </a:t>
            </a:r>
            <a:endParaRPr lang="en-US" sz="2400" b="1" dirty="0">
              <a:solidFill>
                <a:srgbClr val="CC0000"/>
              </a:solidFill>
              <a:latin typeface="Times New Roman" pitchFamily="18" charset="0"/>
              <a:cs typeface="Times New Roman" pitchFamily="18" charset="0"/>
            </a:endParaRPr>
          </a:p>
        </p:txBody>
      </p:sp>
      <p:pic>
        <p:nvPicPr>
          <p:cNvPr id="21" name="Picture 20"/>
          <p:cNvPicPr>
            <a:picLocks noChangeAspect="1" noChangeArrowheads="1"/>
          </p:cNvPicPr>
          <p:nvPr/>
        </p:nvPicPr>
        <p:blipFill>
          <a:blip r:embed="rId5"/>
          <a:srcRect/>
          <a:stretch>
            <a:fillRect/>
          </a:stretch>
        </p:blipFill>
        <p:spPr bwMode="auto">
          <a:xfrm>
            <a:off x="2571736" y="2749528"/>
            <a:ext cx="4416643" cy="4108472"/>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1143000"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072462" y="6072206"/>
            <a:ext cx="785818" cy="646331"/>
          </a:xfrm>
          <a:prstGeom prst="rect">
            <a:avLst/>
          </a:prstGeom>
          <a:noFill/>
          <a:ln w="9525">
            <a:noFill/>
            <a:miter lim="800000"/>
            <a:headEnd/>
            <a:tailEnd/>
          </a:ln>
        </p:spPr>
        <p:txBody>
          <a:bodyPr wrap="square">
            <a:spAutoFit/>
          </a:bodyPr>
          <a:lstStyle/>
          <a:p>
            <a:r>
              <a:rPr lang="en-US" sz="3600" dirty="0">
                <a:latin typeface="Adobe Gothic Std B"/>
                <a:ea typeface="Adobe Gothic Std B"/>
                <a:cs typeface="Adobe Gothic Std B"/>
              </a:rPr>
              <a:t>15</a:t>
            </a:r>
            <a:endParaRPr lang="ar-SA" sz="3600" dirty="0">
              <a:latin typeface="Adobe Gothic Std B"/>
              <a:ea typeface="Adobe Gothic Std B"/>
              <a:cs typeface="Adobe Gothic Std B"/>
            </a:endParaRPr>
          </a:p>
        </p:txBody>
      </p:sp>
      <p:sp>
        <p:nvSpPr>
          <p:cNvPr id="20" name="Rectangle 19"/>
          <p:cNvSpPr/>
          <p:nvPr/>
        </p:nvSpPr>
        <p:spPr>
          <a:xfrm>
            <a:off x="1857356" y="571480"/>
            <a:ext cx="5867398" cy="584775"/>
          </a:xfrm>
          <a:prstGeom prst="rect">
            <a:avLst/>
          </a:prstGeom>
          <a:solidFill>
            <a:srgbClr val="FFFF00"/>
          </a:solidFill>
          <a:ln>
            <a:solidFill>
              <a:srgbClr val="00B0F0"/>
            </a:solidFill>
          </a:ln>
          <a:effectLst>
            <a:glow rad="228600">
              <a:schemeClr val="accent1">
                <a:satMod val="175000"/>
                <a:alpha val="40000"/>
              </a:schemeClr>
            </a:glow>
          </a:effectLst>
        </p:spPr>
        <p:txBody>
          <a:bodyPr wrap="square">
            <a:spAutoFit/>
          </a:bodyPr>
          <a:lstStyle/>
          <a:p>
            <a:pPr algn="ctr"/>
            <a:r>
              <a:rPr lang="en-US" sz="3200" b="1" dirty="0">
                <a:solidFill>
                  <a:srgbClr val="000099"/>
                </a:solidFill>
                <a:latin typeface="Times New Roman" pitchFamily="18" charset="0"/>
                <a:cs typeface="Times New Roman" pitchFamily="18" charset="0"/>
              </a:rPr>
              <a:t>Octahedron</a:t>
            </a:r>
          </a:p>
        </p:txBody>
      </p:sp>
      <p:sp>
        <p:nvSpPr>
          <p:cNvPr id="21" name="Rectangle 20"/>
          <p:cNvSpPr/>
          <p:nvPr/>
        </p:nvSpPr>
        <p:spPr>
          <a:xfrm>
            <a:off x="0" y="1142984"/>
            <a:ext cx="9372600" cy="1200329"/>
          </a:xfrm>
          <a:prstGeom prst="rect">
            <a:avLst/>
          </a:prstGeom>
        </p:spPr>
        <p:txBody>
          <a:bodyPr wrap="square">
            <a:spAutoFit/>
          </a:bodyPr>
          <a:lstStyle/>
          <a:p>
            <a:pPr indent="269875">
              <a:buFontTx/>
              <a:buNone/>
            </a:pPr>
            <a:r>
              <a:rPr lang="en-US" sz="2400" b="1" dirty="0">
                <a:latin typeface="Arial" charset="0"/>
              </a:rPr>
              <a:t>A molecules have valence shells around the central atom that are expanded to as many as </a:t>
            </a:r>
            <a:r>
              <a:rPr lang="en-US" sz="2400" b="1" dirty="0">
                <a:solidFill>
                  <a:srgbClr val="D60093"/>
                </a:solidFill>
                <a:latin typeface="Arial" charset="0"/>
              </a:rPr>
              <a:t>six pairs or twelve electrons. </a:t>
            </a:r>
            <a:r>
              <a:rPr lang="en-US" sz="2400" b="1" dirty="0">
                <a:latin typeface="Arial" charset="0"/>
              </a:rPr>
              <a:t>These shapes are known as </a:t>
            </a:r>
            <a:r>
              <a:rPr lang="en-US" sz="2400" b="1" dirty="0">
                <a:solidFill>
                  <a:srgbClr val="000099"/>
                </a:solidFill>
                <a:latin typeface="Times New Roman" pitchFamily="18" charset="0"/>
                <a:cs typeface="Times New Roman" pitchFamily="18" charset="0"/>
              </a:rPr>
              <a:t>octahedrons.</a:t>
            </a:r>
          </a:p>
        </p:txBody>
      </p:sp>
      <p:pic>
        <p:nvPicPr>
          <p:cNvPr id="22" name="Picture 5"/>
          <p:cNvPicPr>
            <a:picLocks noChangeAspect="1" noChangeArrowheads="1"/>
          </p:cNvPicPr>
          <p:nvPr/>
        </p:nvPicPr>
        <p:blipFill>
          <a:blip r:embed="rId5"/>
          <a:srcRect/>
          <a:stretch>
            <a:fillRect/>
          </a:stretch>
        </p:blipFill>
        <p:spPr bwMode="auto">
          <a:xfrm>
            <a:off x="1994807" y="2382837"/>
            <a:ext cx="5305222" cy="4475163"/>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3"/>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4"/>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5"/>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857280"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072462" y="6072206"/>
            <a:ext cx="1071538" cy="646331"/>
          </a:xfrm>
          <a:prstGeom prst="rect">
            <a:avLst/>
          </a:prstGeom>
          <a:noFill/>
          <a:ln w="9525">
            <a:noFill/>
            <a:miter lim="800000"/>
            <a:headEnd/>
            <a:tailEnd/>
          </a:ln>
        </p:spPr>
        <p:txBody>
          <a:bodyPr wrap="square">
            <a:spAutoFit/>
          </a:bodyPr>
          <a:lstStyle/>
          <a:p>
            <a:r>
              <a:rPr lang="en-US" sz="3600" dirty="0">
                <a:latin typeface="Adobe Gothic Std B"/>
                <a:ea typeface="Adobe Gothic Std B"/>
                <a:cs typeface="Adobe Gothic Std B"/>
              </a:rPr>
              <a:t>16</a:t>
            </a:r>
            <a:endParaRPr lang="ar-SA" sz="3600" dirty="0">
              <a:latin typeface="Adobe Gothic Std B"/>
              <a:ea typeface="Adobe Gothic Std B"/>
              <a:cs typeface="Adobe Gothic Std B"/>
            </a:endParaRPr>
          </a:p>
        </p:txBody>
      </p:sp>
      <p:sp>
        <p:nvSpPr>
          <p:cNvPr id="20" name="Rectangle 3"/>
          <p:cNvSpPr txBox="1">
            <a:spLocks noChangeArrowheads="1"/>
          </p:cNvSpPr>
          <p:nvPr/>
        </p:nvSpPr>
        <p:spPr>
          <a:xfrm>
            <a:off x="0" y="1357298"/>
            <a:ext cx="9144000" cy="4090998"/>
          </a:xfrm>
          <a:prstGeom prst="rect">
            <a:avLst/>
          </a:prstGeom>
        </p:spPr>
        <p:txBody>
          <a:bodyPr vert="horz" lIns="91440" tIns="45720" rIns="91440" bIns="45720" rtlCol="0">
            <a:normAutofit/>
          </a:bodyPr>
          <a:lstStyle/>
          <a:p>
            <a:pPr marL="0" marR="0" lvl="0" indent="269875" algn="just" defTabSz="914400" rtl="0" eaLnBrk="1" fontAlgn="auto" latinLnBrk="0" hangingPunct="1">
              <a:lnSpc>
                <a:spcPct val="15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tint val="75000"/>
                  </a:schemeClr>
                </a:solidFill>
                <a:effectLst/>
                <a:uLnTx/>
                <a:uFillTx/>
                <a:latin typeface="+mn-lt"/>
                <a:ea typeface="+mn-ea"/>
                <a:cs typeface="+mn-cs"/>
              </a:rPr>
              <a:t>	</a:t>
            </a:r>
            <a:r>
              <a:rPr kumimoji="0" lang="en-US" sz="2200" b="1" i="0" u="none" strike="noStrike" kern="1200" cap="none" spc="0" normalizeH="0" baseline="0" noProof="0" dirty="0">
                <a:ln>
                  <a:noFill/>
                </a:ln>
                <a:solidFill>
                  <a:srgbClr val="000099"/>
                </a:solidFill>
                <a:effectLst/>
                <a:uLnTx/>
                <a:uFillTx/>
                <a:latin typeface="Times New Roman" pitchFamily="18" charset="0"/>
                <a:ea typeface="+mn-ea"/>
                <a:cs typeface="Times New Roman" pitchFamily="18" charset="0"/>
              </a:rPr>
              <a:t>In VSEPR the lone pairs appear to occupy more space than electron pairs in bonds, with the result that bond angles are compressed away from the lone pairs. For example, in structures derived from tetrahedral parent geometry, such as water or ammonia, the H-O-H and H-N-H angles are compressed to be less than the 109.5º expected for a regular tetrahedron:</a:t>
            </a:r>
          </a:p>
        </p:txBody>
      </p:sp>
      <p:graphicFrame>
        <p:nvGraphicFramePr>
          <p:cNvPr id="21" name="Object 4"/>
          <p:cNvGraphicFramePr>
            <a:graphicFrameLocks noChangeAspect="1"/>
          </p:cNvGraphicFramePr>
          <p:nvPr>
            <p:extLst>
              <p:ext uri="{D42A27DB-BD31-4B8C-83A1-F6EECF244321}">
                <p14:modId xmlns:p14="http://schemas.microsoft.com/office/powerpoint/2010/main" val="3706308117"/>
              </p:ext>
            </p:extLst>
          </p:nvPr>
        </p:nvGraphicFramePr>
        <p:xfrm>
          <a:off x="2451509" y="4406159"/>
          <a:ext cx="4267200" cy="2132856"/>
        </p:xfrm>
        <a:graphic>
          <a:graphicData uri="http://schemas.openxmlformats.org/presentationml/2006/ole">
            <mc:AlternateContent xmlns:mc="http://schemas.openxmlformats.org/markup-compatibility/2006">
              <mc:Choice xmlns:v="urn:schemas-microsoft-com:vml" Requires="v">
                <p:oleObj spid="_x0000_s21513" name="CS ChemDraw Drawing" r:id="rId6" imgW="5783580" imgH="3535680" progId="ChemDraw.Document.6.0">
                  <p:embed/>
                </p:oleObj>
              </mc:Choice>
              <mc:Fallback>
                <p:oleObj name="CS ChemDraw Drawing" r:id="rId6" imgW="5783580" imgH="3535680" progId="ChemDraw.Document.6.0">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51509" y="4406159"/>
                        <a:ext cx="4267200" cy="21328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Horizontal Scroll 21"/>
          <p:cNvSpPr/>
          <p:nvPr/>
        </p:nvSpPr>
        <p:spPr>
          <a:xfrm>
            <a:off x="0" y="500042"/>
            <a:ext cx="9144000" cy="990600"/>
          </a:xfrm>
          <a:prstGeom prst="horizontalScroll">
            <a:avLst/>
          </a:prstGeom>
          <a:solidFill>
            <a:schemeClr val="bg2"/>
          </a:solidFill>
          <a:ln>
            <a:solidFill>
              <a:srgbClr val="0070C0"/>
            </a:solidFill>
          </a:ln>
          <a:effectLst>
            <a:glow rad="228600">
              <a:schemeClr val="accent5">
                <a:satMod val="175000"/>
                <a:alpha val="40000"/>
              </a:schemeClr>
            </a:glow>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en-US" sz="3000" b="1" dirty="0">
                <a:solidFill>
                  <a:srgbClr val="FF0000"/>
                </a:solidFill>
                <a:latin typeface="Times New Roman" pitchFamily="18" charset="0"/>
                <a:cs typeface="Times New Roman" pitchFamily="18" charset="0"/>
              </a:rPr>
              <a:t>The effect of lone pairs on bond angles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857280"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072462" y="6072206"/>
            <a:ext cx="785818" cy="646331"/>
          </a:xfrm>
          <a:prstGeom prst="rect">
            <a:avLst/>
          </a:prstGeom>
          <a:noFill/>
          <a:ln w="9525">
            <a:noFill/>
            <a:miter lim="800000"/>
            <a:headEnd/>
            <a:tailEnd/>
          </a:ln>
        </p:spPr>
        <p:txBody>
          <a:bodyPr wrap="square">
            <a:spAutoFit/>
          </a:bodyPr>
          <a:lstStyle/>
          <a:p>
            <a:r>
              <a:rPr lang="en-US" sz="3600" dirty="0">
                <a:latin typeface="Adobe Gothic Std B"/>
                <a:ea typeface="Adobe Gothic Std B"/>
                <a:cs typeface="Adobe Gothic Std B"/>
              </a:rPr>
              <a:t>17</a:t>
            </a:r>
            <a:endParaRPr lang="ar-SA" sz="3600" dirty="0">
              <a:latin typeface="Adobe Gothic Std B"/>
              <a:ea typeface="Adobe Gothic Std B"/>
              <a:cs typeface="Adobe Gothic Std B"/>
            </a:endParaRPr>
          </a:p>
        </p:txBody>
      </p:sp>
      <p:pic>
        <p:nvPicPr>
          <p:cNvPr id="19" name="Picture 4"/>
          <p:cNvPicPr>
            <a:picLocks noChangeAspect="1" noChangeArrowheads="1"/>
          </p:cNvPicPr>
          <p:nvPr/>
        </p:nvPicPr>
        <p:blipFill>
          <a:blip r:embed="rId5"/>
          <a:srcRect/>
          <a:stretch>
            <a:fillRect/>
          </a:stretch>
        </p:blipFill>
        <p:spPr bwMode="auto">
          <a:xfrm>
            <a:off x="1187624" y="1357668"/>
            <a:ext cx="6375082" cy="2253923"/>
          </a:xfrm>
          <a:prstGeom prst="rect">
            <a:avLst/>
          </a:prstGeom>
          <a:noFill/>
        </p:spPr>
      </p:pic>
      <p:sp>
        <p:nvSpPr>
          <p:cNvPr id="20" name="Text Box 5"/>
          <p:cNvSpPr txBox="1">
            <a:spLocks noChangeArrowheads="1"/>
          </p:cNvSpPr>
          <p:nvPr/>
        </p:nvSpPr>
        <p:spPr bwMode="auto">
          <a:xfrm>
            <a:off x="1693790" y="3525605"/>
            <a:ext cx="6659563" cy="457200"/>
          </a:xfrm>
          <a:prstGeom prst="rect">
            <a:avLst/>
          </a:prstGeom>
          <a:noFill/>
          <a:ln w="9525">
            <a:noFill/>
            <a:miter lim="800000"/>
            <a:headEnd/>
            <a:tailEnd/>
          </a:ln>
          <a:effectLst/>
        </p:spPr>
        <p:txBody>
          <a:bodyPr wrap="none">
            <a:spAutoFit/>
          </a:bodyPr>
          <a:lstStyle/>
          <a:p>
            <a:r>
              <a:rPr lang="en-US" sz="2400" b="1" dirty="0"/>
              <a:t>chlorine </a:t>
            </a:r>
            <a:r>
              <a:rPr lang="en-US" sz="2400" b="1" dirty="0" err="1"/>
              <a:t>trifuoride</a:t>
            </a:r>
            <a:r>
              <a:rPr lang="en-US" sz="2400" b="1" dirty="0"/>
              <a:t>        chlorine </a:t>
            </a:r>
            <a:r>
              <a:rPr lang="en-US" sz="2400" b="1" dirty="0" err="1"/>
              <a:t>pentafluoride</a:t>
            </a:r>
            <a:endParaRPr lang="en-US" sz="2400" b="1" dirty="0"/>
          </a:p>
        </p:txBody>
      </p:sp>
      <p:sp>
        <p:nvSpPr>
          <p:cNvPr id="21" name="Horizontal Scroll 20"/>
          <p:cNvSpPr/>
          <p:nvPr/>
        </p:nvSpPr>
        <p:spPr>
          <a:xfrm>
            <a:off x="0" y="500042"/>
            <a:ext cx="9144000" cy="990600"/>
          </a:xfrm>
          <a:prstGeom prst="horizontalScroll">
            <a:avLst/>
          </a:prstGeom>
          <a:solidFill>
            <a:schemeClr val="bg2"/>
          </a:solidFill>
          <a:ln>
            <a:solidFill>
              <a:srgbClr val="0070C0"/>
            </a:solidFill>
          </a:ln>
          <a:effectLst>
            <a:glow rad="228600">
              <a:schemeClr val="accent5">
                <a:satMod val="175000"/>
                <a:alpha val="40000"/>
              </a:schemeClr>
            </a:glow>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en-US" sz="2800" b="1" dirty="0">
                <a:solidFill>
                  <a:srgbClr val="D60093"/>
                </a:solidFill>
              </a:rPr>
              <a:t>Effects of lone pairs on bond angles in ClF</a:t>
            </a:r>
            <a:r>
              <a:rPr lang="en-US" sz="2800" b="1" baseline="-25000" dirty="0">
                <a:solidFill>
                  <a:srgbClr val="D60093"/>
                </a:solidFill>
              </a:rPr>
              <a:t>3</a:t>
            </a:r>
            <a:r>
              <a:rPr lang="en-US" sz="2800" b="1" dirty="0">
                <a:solidFill>
                  <a:srgbClr val="D60093"/>
                </a:solidFill>
              </a:rPr>
              <a:t> and ClF</a:t>
            </a:r>
            <a:r>
              <a:rPr lang="en-US" sz="2800" b="1" baseline="-25000" dirty="0">
                <a:solidFill>
                  <a:srgbClr val="D60093"/>
                </a:solidFill>
              </a:rPr>
              <a:t>5</a:t>
            </a:r>
            <a:r>
              <a:rPr lang="en-US" sz="2800" b="1" dirty="0">
                <a:solidFill>
                  <a:srgbClr val="D60093"/>
                </a:solidFill>
              </a:rPr>
              <a:t>.</a:t>
            </a:r>
            <a:endParaRPr lang="en-US" sz="3000" b="1" dirty="0">
              <a:solidFill>
                <a:srgbClr val="D60093"/>
              </a:solidFill>
              <a:latin typeface="Times New Roman" pitchFamily="18" charset="0"/>
              <a:cs typeface="Times New Roman" pitchFamily="18" charset="0"/>
            </a:endParaRPr>
          </a:p>
        </p:txBody>
      </p:sp>
      <p:sp>
        <p:nvSpPr>
          <p:cNvPr id="22" name="Rectangle 21"/>
          <p:cNvSpPr/>
          <p:nvPr/>
        </p:nvSpPr>
        <p:spPr>
          <a:xfrm>
            <a:off x="785786" y="5143512"/>
            <a:ext cx="8358214" cy="461665"/>
          </a:xfrm>
          <a:prstGeom prst="rect">
            <a:avLst/>
          </a:prstGeom>
          <a:solidFill>
            <a:srgbClr val="FFFF00"/>
          </a:solidFill>
          <a:ln>
            <a:solidFill>
              <a:srgbClr val="006600"/>
            </a:solidFill>
          </a:ln>
          <a:effectLst>
            <a:glow rad="228600">
              <a:schemeClr val="accent5">
                <a:satMod val="175000"/>
                <a:alpha val="40000"/>
              </a:schemeClr>
            </a:glow>
          </a:effectLst>
        </p:spPr>
        <p:txBody>
          <a:bodyPr wrap="square">
            <a:spAutoFit/>
          </a:bodyPr>
          <a:lstStyle/>
          <a:p>
            <a:pPr algn="ctr"/>
            <a:r>
              <a:rPr lang="en-US" sz="2400" b="1" dirty="0">
                <a:solidFill>
                  <a:srgbClr val="000099"/>
                </a:solidFill>
                <a:latin typeface="Times New Roman" pitchFamily="18" charset="0"/>
              </a:rPr>
              <a:t>Two Lone Pairs </a:t>
            </a:r>
            <a:r>
              <a:rPr lang="en-US" sz="2400" b="1" dirty="0">
                <a:solidFill>
                  <a:srgbClr val="000099"/>
                </a:solidFill>
                <a:latin typeface="Times New Roman" pitchFamily="18" charset="0"/>
                <a:sym typeface="Symbol"/>
              </a:rPr>
              <a:t> </a:t>
            </a:r>
            <a:r>
              <a:rPr lang="en-US" sz="2400" b="1" dirty="0">
                <a:solidFill>
                  <a:srgbClr val="000099"/>
                </a:solidFill>
                <a:latin typeface="Times New Roman" pitchFamily="18" charset="0"/>
              </a:rPr>
              <a:t>Lone Pair and Bond Pair</a:t>
            </a:r>
            <a:r>
              <a:rPr lang="en-US" sz="2400" b="1" dirty="0">
                <a:solidFill>
                  <a:srgbClr val="000099"/>
                </a:solidFill>
                <a:latin typeface="Times New Roman" pitchFamily="18" charset="0"/>
                <a:sym typeface="Symbol"/>
              </a:rPr>
              <a:t>  </a:t>
            </a:r>
            <a:r>
              <a:rPr lang="en-US" sz="2400" b="1" dirty="0">
                <a:solidFill>
                  <a:srgbClr val="000099"/>
                </a:solidFill>
                <a:latin typeface="Times New Roman" pitchFamily="18" charset="0"/>
              </a:rPr>
              <a:t>Two Bond Pairs</a:t>
            </a:r>
            <a:endParaRPr lang="ar-EG" sz="2400" dirty="0">
              <a:solidFill>
                <a:srgbClr val="000099"/>
              </a:solidFill>
            </a:endParaRPr>
          </a:p>
        </p:txBody>
      </p:sp>
      <p:sp>
        <p:nvSpPr>
          <p:cNvPr id="23" name="Rectangle 22"/>
          <p:cNvSpPr/>
          <p:nvPr/>
        </p:nvSpPr>
        <p:spPr>
          <a:xfrm>
            <a:off x="0" y="4071942"/>
            <a:ext cx="9144000" cy="954107"/>
          </a:xfrm>
          <a:prstGeom prst="rect">
            <a:avLst/>
          </a:prstGeom>
          <a:solidFill>
            <a:schemeClr val="accent6">
              <a:lumMod val="40000"/>
              <a:lumOff val="60000"/>
            </a:schemeClr>
          </a:solidFill>
          <a:ln>
            <a:solidFill>
              <a:srgbClr val="FF0066"/>
            </a:solidFill>
          </a:ln>
          <a:effectLst>
            <a:glow rad="228600">
              <a:schemeClr val="accent2">
                <a:satMod val="175000"/>
                <a:alpha val="40000"/>
              </a:schemeClr>
            </a:glow>
          </a:effectLst>
        </p:spPr>
        <p:txBody>
          <a:bodyPr wrap="square">
            <a:spAutoFit/>
          </a:bodyPr>
          <a:lstStyle/>
          <a:p>
            <a:pPr algn="just"/>
            <a:r>
              <a:rPr lang="en-US" sz="2800" b="1" i="1" dirty="0">
                <a:solidFill>
                  <a:srgbClr val="D60093"/>
                </a:solidFill>
                <a:latin typeface="Times New Roman" pitchFamily="18" charset="0"/>
                <a:cs typeface="+mj-cs"/>
              </a:rPr>
              <a:t>Lone pairs tend to compress the other bond angles in a molecule, because the repulsion increases  in the order;</a:t>
            </a:r>
            <a:endParaRPr lang="ar-EG" sz="2800" b="1" i="1" dirty="0">
              <a:solidFill>
                <a:srgbClr val="D60093"/>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1143000"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072462" y="6072206"/>
            <a:ext cx="785818" cy="646331"/>
          </a:xfrm>
          <a:prstGeom prst="rect">
            <a:avLst/>
          </a:prstGeom>
          <a:noFill/>
          <a:ln w="9525">
            <a:noFill/>
            <a:miter lim="800000"/>
            <a:headEnd/>
            <a:tailEnd/>
          </a:ln>
        </p:spPr>
        <p:txBody>
          <a:bodyPr wrap="square">
            <a:spAutoFit/>
          </a:bodyPr>
          <a:lstStyle/>
          <a:p>
            <a:r>
              <a:rPr lang="en-US" sz="3600" dirty="0">
                <a:latin typeface="Adobe Gothic Std B"/>
                <a:ea typeface="Adobe Gothic Std B"/>
                <a:cs typeface="Adobe Gothic Std B"/>
              </a:rPr>
              <a:t>18</a:t>
            </a:r>
            <a:endParaRPr lang="ar-SA" sz="3600" dirty="0">
              <a:latin typeface="Adobe Gothic Std B"/>
              <a:ea typeface="Adobe Gothic Std B"/>
              <a:cs typeface="Adobe Gothic Std B"/>
            </a:endParaRPr>
          </a:p>
        </p:txBody>
      </p:sp>
      <p:pic>
        <p:nvPicPr>
          <p:cNvPr id="20" name="Picture 4"/>
          <p:cNvPicPr>
            <a:picLocks noChangeAspect="1" noChangeArrowheads="1"/>
          </p:cNvPicPr>
          <p:nvPr/>
        </p:nvPicPr>
        <p:blipFill>
          <a:blip r:embed="rId5"/>
          <a:srcRect/>
          <a:stretch>
            <a:fillRect/>
          </a:stretch>
        </p:blipFill>
        <p:spPr>
          <a:xfrm>
            <a:off x="1763688" y="1628800"/>
            <a:ext cx="5091906" cy="1962762"/>
          </a:xfrm>
          <a:prstGeom prst="rect">
            <a:avLst/>
          </a:prstGeom>
          <a:solidFill>
            <a:srgbClr val="0033CC"/>
          </a:solidFill>
          <a:ln w="25400">
            <a:solidFill>
              <a:srgbClr val="D60093"/>
            </a:solidFill>
          </a:ln>
        </p:spPr>
      </p:pic>
      <p:pic>
        <p:nvPicPr>
          <p:cNvPr id="21" name="Picture 6"/>
          <p:cNvPicPr>
            <a:picLocks noChangeAspect="1" noChangeArrowheads="1"/>
          </p:cNvPicPr>
          <p:nvPr/>
        </p:nvPicPr>
        <p:blipFill>
          <a:blip r:embed="rId6"/>
          <a:srcRect/>
          <a:stretch>
            <a:fillRect/>
          </a:stretch>
        </p:blipFill>
        <p:spPr>
          <a:xfrm>
            <a:off x="1403648" y="3933056"/>
            <a:ext cx="6150157" cy="1842864"/>
          </a:xfrm>
          <a:prstGeom prst="rect">
            <a:avLst/>
          </a:prstGeom>
          <a:solidFill>
            <a:srgbClr val="0033CC"/>
          </a:solidFill>
          <a:ln w="25400">
            <a:solidFill>
              <a:srgbClr val="002060"/>
            </a:solidFill>
          </a:ln>
        </p:spPr>
      </p:pic>
      <p:sp>
        <p:nvSpPr>
          <p:cNvPr id="22" name="Horizontal Scroll 21"/>
          <p:cNvSpPr/>
          <p:nvPr/>
        </p:nvSpPr>
        <p:spPr>
          <a:xfrm>
            <a:off x="0" y="571480"/>
            <a:ext cx="9144000" cy="785818"/>
          </a:xfrm>
          <a:prstGeom prst="horizontalScroll">
            <a:avLst/>
          </a:prstGeom>
          <a:solidFill>
            <a:schemeClr val="bg2"/>
          </a:solidFill>
          <a:ln>
            <a:solidFill>
              <a:srgbClr val="0070C0"/>
            </a:solidFill>
          </a:ln>
          <a:effectLst>
            <a:glow rad="228600">
              <a:schemeClr val="accent5">
                <a:satMod val="175000"/>
                <a:alpha val="40000"/>
              </a:schemeClr>
            </a:glow>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en-US" sz="2000" b="1" dirty="0">
                <a:solidFill>
                  <a:srgbClr val="FF0000"/>
                </a:solidFill>
                <a:latin typeface="Times New Roman" pitchFamily="18" charset="0"/>
                <a:cs typeface="Times New Roman" pitchFamily="18" charset="0"/>
              </a:rPr>
              <a:t>Question:</a:t>
            </a:r>
            <a:r>
              <a:rPr lang="en-US" sz="2000" dirty="0">
                <a:latin typeface="Times New Roman" pitchFamily="18" charset="0"/>
                <a:cs typeface="Times New Roman" pitchFamily="18" charset="0"/>
              </a:rPr>
              <a:t> </a:t>
            </a:r>
            <a:r>
              <a:rPr lang="en-US" sz="2000" b="1" dirty="0">
                <a:solidFill>
                  <a:srgbClr val="000099"/>
                </a:solidFill>
                <a:latin typeface="Times New Roman" pitchFamily="18" charset="0"/>
                <a:cs typeface="Times New Roman" pitchFamily="18" charset="0"/>
              </a:rPr>
              <a:t>predict the shape of </a:t>
            </a:r>
            <a:r>
              <a:rPr lang="tr-TR" sz="2000" b="1" dirty="0">
                <a:solidFill>
                  <a:srgbClr val="000099"/>
                </a:solidFill>
                <a:latin typeface="Times New Roman" pitchFamily="18" charset="0"/>
                <a:cs typeface="Times New Roman" pitchFamily="18" charset="0"/>
              </a:rPr>
              <a:t>CO</a:t>
            </a:r>
            <a:r>
              <a:rPr lang="tr-TR" sz="2000" b="1" baseline="-25000" dirty="0">
                <a:solidFill>
                  <a:srgbClr val="000099"/>
                </a:solidFill>
                <a:latin typeface="Times New Roman" pitchFamily="18" charset="0"/>
                <a:cs typeface="Times New Roman" pitchFamily="18" charset="0"/>
              </a:rPr>
              <a:t>2</a:t>
            </a:r>
            <a:r>
              <a:rPr lang="tr-TR" sz="2000" b="1" dirty="0">
                <a:solidFill>
                  <a:srgbClr val="000099"/>
                </a:solidFill>
                <a:latin typeface="Times New Roman" pitchFamily="18" charset="0"/>
                <a:cs typeface="Times New Roman" pitchFamily="18" charset="0"/>
              </a:rPr>
              <a:t>  HCN </a:t>
            </a:r>
            <a:r>
              <a:rPr lang="en-US" sz="2000" b="1" dirty="0">
                <a:solidFill>
                  <a:srgbClr val="000099"/>
                </a:solidFill>
                <a:latin typeface="Times New Roman" pitchFamily="18" charset="0"/>
                <a:cs typeface="Times New Roman" pitchFamily="18" charset="0"/>
              </a:rPr>
              <a:t>CH</a:t>
            </a:r>
            <a:r>
              <a:rPr lang="en-US" sz="2000" b="1" baseline="-25000" dirty="0">
                <a:solidFill>
                  <a:srgbClr val="000099"/>
                </a:solidFill>
                <a:latin typeface="Times New Roman" pitchFamily="18" charset="0"/>
                <a:cs typeface="Times New Roman" pitchFamily="18" charset="0"/>
              </a:rPr>
              <a:t>4</a:t>
            </a:r>
            <a:r>
              <a:rPr lang="en-US" sz="2000" b="1" dirty="0">
                <a:solidFill>
                  <a:srgbClr val="000099"/>
                </a:solidFill>
                <a:latin typeface="Times New Roman" pitchFamily="18" charset="0"/>
                <a:cs typeface="Times New Roman" pitchFamily="18" charset="0"/>
              </a:rPr>
              <a:t>, NH3  </a:t>
            </a:r>
            <a:r>
              <a:rPr lang="tr-TR" sz="2000" b="1" dirty="0">
                <a:solidFill>
                  <a:srgbClr val="000099"/>
                </a:solidFill>
                <a:latin typeface="Times New Roman" pitchFamily="18" charset="0"/>
                <a:cs typeface="Times New Roman" pitchFamily="18" charset="0"/>
              </a:rPr>
              <a:t>SO</a:t>
            </a:r>
            <a:r>
              <a:rPr lang="tr-TR" sz="2000" b="1" baseline="-25000" dirty="0">
                <a:solidFill>
                  <a:srgbClr val="000099"/>
                </a:solidFill>
                <a:latin typeface="Times New Roman" pitchFamily="18" charset="0"/>
                <a:cs typeface="Times New Roman" pitchFamily="18" charset="0"/>
              </a:rPr>
              <a:t>2</a:t>
            </a:r>
            <a:r>
              <a:rPr lang="en-US" sz="2000" b="1" dirty="0">
                <a:solidFill>
                  <a:srgbClr val="000099"/>
                </a:solidFill>
                <a:latin typeface="Times New Roman" pitchFamily="18" charset="0"/>
                <a:cs typeface="Times New Roman" pitchFamily="18" charset="0"/>
              </a:rPr>
              <a:t>  PCl</a:t>
            </a:r>
            <a:r>
              <a:rPr lang="en-US" sz="2000" b="1" baseline="-25000" dirty="0">
                <a:solidFill>
                  <a:srgbClr val="000099"/>
                </a:solidFill>
                <a:latin typeface="Times New Roman" pitchFamily="18" charset="0"/>
                <a:cs typeface="Times New Roman" pitchFamily="18" charset="0"/>
              </a:rPr>
              <a:t>5</a:t>
            </a:r>
            <a:r>
              <a:rPr lang="en-US" sz="2000" b="1" dirty="0">
                <a:solidFill>
                  <a:srgbClr val="000099"/>
                </a:solidFill>
                <a:latin typeface="Times New Roman" pitchFamily="18" charset="0"/>
                <a:cs typeface="Times New Roman" pitchFamily="18" charset="0"/>
              </a:rPr>
              <a:t>, SF6 and H</a:t>
            </a:r>
            <a:r>
              <a:rPr lang="en-US" sz="2000" b="1" baseline="-25000" dirty="0">
                <a:solidFill>
                  <a:srgbClr val="000099"/>
                </a:solidFill>
                <a:latin typeface="Times New Roman" pitchFamily="18" charset="0"/>
                <a:cs typeface="Times New Roman" pitchFamily="18" charset="0"/>
              </a:rPr>
              <a:t>2</a:t>
            </a:r>
            <a:r>
              <a:rPr lang="en-US" sz="2000" b="1" dirty="0">
                <a:solidFill>
                  <a:srgbClr val="000099"/>
                </a:solidFill>
                <a:latin typeface="Times New Roman" pitchFamily="18" charset="0"/>
                <a:cs typeface="Times New Roman" pitchFamily="18" charset="0"/>
              </a:rPr>
              <a:t>O by using VSEPR theory. </a:t>
            </a:r>
            <a:endParaRPr lang="en-US" sz="2000" b="1" dirty="0">
              <a:solidFill>
                <a:srgbClr val="D60093"/>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ox(in)">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additive="base">
                                        <p:cTn id="12" dur="500" fill="hold"/>
                                        <p:tgtEl>
                                          <p:spTgt spid="21"/>
                                        </p:tgtEl>
                                        <p:attrNameLst>
                                          <p:attrName>ppt_x</p:attrName>
                                        </p:attrNameLst>
                                      </p:cBhvr>
                                      <p:tavLst>
                                        <p:tav tm="0">
                                          <p:val>
                                            <p:strVal val="#ppt_x"/>
                                          </p:val>
                                        </p:tav>
                                        <p:tav tm="100000">
                                          <p:val>
                                            <p:strVal val="#ppt_x"/>
                                          </p:val>
                                        </p:tav>
                                      </p:tavLst>
                                    </p:anim>
                                    <p:anim calcmode="lin" valueType="num">
                                      <p:cBhvr additive="base">
                                        <p:cTn id="1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857280"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072462" y="6072206"/>
            <a:ext cx="785818" cy="646331"/>
          </a:xfrm>
          <a:prstGeom prst="rect">
            <a:avLst/>
          </a:prstGeom>
          <a:noFill/>
          <a:ln w="9525">
            <a:noFill/>
            <a:miter lim="800000"/>
            <a:headEnd/>
            <a:tailEnd/>
          </a:ln>
        </p:spPr>
        <p:txBody>
          <a:bodyPr wrap="square">
            <a:spAutoFit/>
          </a:bodyPr>
          <a:lstStyle/>
          <a:p>
            <a:r>
              <a:rPr lang="en-US" sz="3600" dirty="0">
                <a:latin typeface="Adobe Gothic Std B"/>
                <a:ea typeface="Adobe Gothic Std B"/>
                <a:cs typeface="Adobe Gothic Std B"/>
              </a:rPr>
              <a:t>19</a:t>
            </a:r>
            <a:endParaRPr lang="ar-SA" sz="3600" dirty="0">
              <a:latin typeface="Adobe Gothic Std B"/>
              <a:ea typeface="Adobe Gothic Std B"/>
              <a:cs typeface="Adobe Gothic Std B"/>
            </a:endParaRPr>
          </a:p>
        </p:txBody>
      </p:sp>
      <p:pic>
        <p:nvPicPr>
          <p:cNvPr id="19" name="Picture 5"/>
          <p:cNvPicPr>
            <a:picLocks noChangeAspect="1" noChangeArrowheads="1"/>
          </p:cNvPicPr>
          <p:nvPr/>
        </p:nvPicPr>
        <p:blipFill>
          <a:blip r:embed="rId5"/>
          <a:srcRect/>
          <a:stretch>
            <a:fillRect/>
          </a:stretch>
        </p:blipFill>
        <p:spPr>
          <a:xfrm>
            <a:off x="395536" y="2176192"/>
            <a:ext cx="4357685" cy="1849408"/>
          </a:xfrm>
          <a:prstGeom prst="rect">
            <a:avLst/>
          </a:prstGeom>
          <a:noFill/>
          <a:ln w="25400">
            <a:solidFill>
              <a:srgbClr val="D60093"/>
            </a:solidFill>
          </a:ln>
        </p:spPr>
      </p:pic>
      <p:pic>
        <p:nvPicPr>
          <p:cNvPr id="20" name="Picture 7"/>
          <p:cNvPicPr>
            <a:picLocks noChangeAspect="1" noChangeArrowheads="1"/>
          </p:cNvPicPr>
          <p:nvPr/>
        </p:nvPicPr>
        <p:blipFill>
          <a:blip r:embed="rId6"/>
          <a:srcRect/>
          <a:stretch>
            <a:fillRect/>
          </a:stretch>
        </p:blipFill>
        <p:spPr>
          <a:xfrm>
            <a:off x="4572000" y="836712"/>
            <a:ext cx="4572000" cy="1777970"/>
          </a:xfrm>
          <a:prstGeom prst="rect">
            <a:avLst/>
          </a:prstGeom>
          <a:solidFill>
            <a:srgbClr val="0033CC"/>
          </a:solidFill>
          <a:ln w="25400">
            <a:solidFill>
              <a:schemeClr val="tx1"/>
            </a:solidFill>
          </a:ln>
        </p:spPr>
      </p:pic>
      <p:pic>
        <p:nvPicPr>
          <p:cNvPr id="21" name="Picture 9"/>
          <p:cNvPicPr>
            <a:picLocks noChangeAspect="1" noChangeArrowheads="1"/>
          </p:cNvPicPr>
          <p:nvPr/>
        </p:nvPicPr>
        <p:blipFill>
          <a:blip r:embed="rId7"/>
          <a:srcRect/>
          <a:stretch>
            <a:fillRect/>
          </a:stretch>
        </p:blipFill>
        <p:spPr>
          <a:xfrm>
            <a:off x="1676400" y="4243263"/>
            <a:ext cx="5588124" cy="1701754"/>
          </a:xfrm>
          <a:prstGeom prst="rect">
            <a:avLst/>
          </a:prstGeom>
          <a:solidFill>
            <a:srgbClr val="0033CC"/>
          </a:solidFill>
          <a:ln w="25400">
            <a:solidFill>
              <a:srgbClr val="000099"/>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928718"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072462" y="6072206"/>
            <a:ext cx="785818" cy="646331"/>
          </a:xfrm>
          <a:prstGeom prst="rect">
            <a:avLst/>
          </a:prstGeom>
          <a:noFill/>
          <a:ln w="9525">
            <a:noFill/>
            <a:miter lim="800000"/>
            <a:headEnd/>
            <a:tailEnd/>
          </a:ln>
        </p:spPr>
        <p:txBody>
          <a:bodyPr wrap="square">
            <a:spAutoFit/>
          </a:bodyPr>
          <a:lstStyle/>
          <a:p>
            <a:r>
              <a:rPr lang="en-US" sz="3600" dirty="0">
                <a:latin typeface="Adobe Gothic Std B"/>
                <a:ea typeface="Adobe Gothic Std B"/>
                <a:cs typeface="Adobe Gothic Std B"/>
              </a:rPr>
              <a:t>20</a:t>
            </a:r>
            <a:endParaRPr lang="ar-SA" sz="3600" dirty="0">
              <a:latin typeface="Adobe Gothic Std B"/>
              <a:ea typeface="Adobe Gothic Std B"/>
              <a:cs typeface="Adobe Gothic Std B"/>
            </a:endParaRPr>
          </a:p>
        </p:txBody>
      </p:sp>
      <p:pic>
        <p:nvPicPr>
          <p:cNvPr id="20" name="Picture 4"/>
          <p:cNvPicPr>
            <a:picLocks noChangeAspect="1" noChangeArrowheads="1"/>
          </p:cNvPicPr>
          <p:nvPr/>
        </p:nvPicPr>
        <p:blipFill>
          <a:blip r:embed="rId5"/>
          <a:srcRect/>
          <a:stretch>
            <a:fillRect/>
          </a:stretch>
        </p:blipFill>
        <p:spPr bwMode="auto">
          <a:xfrm>
            <a:off x="1403648" y="718051"/>
            <a:ext cx="6307064" cy="5286411"/>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928718"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072462" y="6072206"/>
            <a:ext cx="785818" cy="646331"/>
          </a:xfrm>
          <a:prstGeom prst="rect">
            <a:avLst/>
          </a:prstGeom>
          <a:noFill/>
          <a:ln w="9525">
            <a:noFill/>
            <a:miter lim="800000"/>
            <a:headEnd/>
            <a:tailEnd/>
          </a:ln>
        </p:spPr>
        <p:txBody>
          <a:bodyPr wrap="square">
            <a:spAutoFit/>
          </a:bodyPr>
          <a:lstStyle/>
          <a:p>
            <a:r>
              <a:rPr lang="en-US" sz="3600" dirty="0">
                <a:latin typeface="Adobe Gothic Std B"/>
                <a:ea typeface="Adobe Gothic Std B"/>
                <a:cs typeface="Adobe Gothic Std B"/>
              </a:rPr>
              <a:t>22</a:t>
            </a:r>
            <a:endParaRPr lang="ar-SA" sz="3600" dirty="0">
              <a:latin typeface="Adobe Gothic Std B"/>
              <a:ea typeface="Adobe Gothic Std B"/>
              <a:cs typeface="Adobe Gothic Std B"/>
            </a:endParaRPr>
          </a:p>
        </p:txBody>
      </p:sp>
      <p:pic>
        <p:nvPicPr>
          <p:cNvPr id="21" name="Picture 4"/>
          <p:cNvPicPr>
            <a:picLocks noChangeAspect="1" noChangeArrowheads="1"/>
          </p:cNvPicPr>
          <p:nvPr/>
        </p:nvPicPr>
        <p:blipFill>
          <a:blip r:embed="rId5"/>
          <a:srcRect/>
          <a:stretch>
            <a:fillRect/>
          </a:stretch>
        </p:blipFill>
        <p:spPr bwMode="auto">
          <a:xfrm>
            <a:off x="894442" y="764704"/>
            <a:ext cx="7311756" cy="4929222"/>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33"/>
          <p:cNvGrpSpPr>
            <a:grpSpLocks/>
          </p:cNvGrpSpPr>
          <p:nvPr/>
        </p:nvGrpSpPr>
        <p:grpSpPr bwMode="auto">
          <a:xfrm>
            <a:off x="0" y="0"/>
            <a:ext cx="9144000" cy="533400"/>
            <a:chOff x="0" y="0"/>
            <a:chExt cx="9144000" cy="838200"/>
          </a:xfrm>
        </p:grpSpPr>
        <p:pic>
          <p:nvPicPr>
            <p:cNvPr id="3088" name="Picture 4" descr="D:\desk\Department\websites work\April-chemweb\masthead-chemistry.jpg"/>
            <p:cNvPicPr>
              <a:picLocks noChangeAspect="1" noChangeArrowheads="1"/>
            </p:cNvPicPr>
            <p:nvPr/>
          </p:nvPicPr>
          <p:blipFill>
            <a:blip r:embed="rId2"/>
            <a:srcRect/>
            <a:stretch>
              <a:fillRect/>
            </a:stretch>
          </p:blipFill>
          <p:spPr bwMode="auto">
            <a:xfrm>
              <a:off x="0" y="0"/>
              <a:ext cx="3352800" cy="838200"/>
            </a:xfrm>
            <a:prstGeom prst="rect">
              <a:avLst/>
            </a:prstGeom>
            <a:noFill/>
            <a:ln w="9525">
              <a:noFill/>
              <a:miter lim="800000"/>
              <a:headEnd/>
              <a:tailEnd/>
            </a:ln>
          </p:spPr>
        </p:pic>
        <p:pic>
          <p:nvPicPr>
            <p:cNvPr id="3089" name="Picture 4" descr="D:\desk\Department\websites work\April-chemweb\masthead-chemistry.jpg"/>
            <p:cNvPicPr>
              <a:picLocks noChangeAspect="1" noChangeArrowheads="1"/>
            </p:cNvPicPr>
            <p:nvPr/>
          </p:nvPicPr>
          <p:blipFill>
            <a:blip r:embed="rId3"/>
            <a:srcRect/>
            <a:stretch>
              <a:fillRect/>
            </a:stretch>
          </p:blipFill>
          <p:spPr bwMode="auto">
            <a:xfrm>
              <a:off x="3352800" y="0"/>
              <a:ext cx="3048000" cy="838200"/>
            </a:xfrm>
            <a:prstGeom prst="rect">
              <a:avLst/>
            </a:prstGeom>
            <a:noFill/>
            <a:ln w="9525">
              <a:noFill/>
              <a:miter lim="800000"/>
              <a:headEnd/>
              <a:tailEnd/>
            </a:ln>
          </p:spPr>
        </p:pic>
        <p:pic>
          <p:nvPicPr>
            <p:cNvPr id="3090" name="Picture 4" descr="D:\desk\Department\websites work\April-chemweb\masthead-chemistry.jpg"/>
            <p:cNvPicPr>
              <a:picLocks noChangeAspect="1" noChangeArrowheads="1"/>
            </p:cNvPicPr>
            <p:nvPr/>
          </p:nvPicPr>
          <p:blipFill>
            <a:blip r:embed="rId4"/>
            <a:srcRect/>
            <a:stretch>
              <a:fillRect/>
            </a:stretch>
          </p:blipFill>
          <p:spPr bwMode="auto">
            <a:xfrm>
              <a:off x="6400800" y="0"/>
              <a:ext cx="2743200" cy="838200"/>
            </a:xfrm>
            <a:prstGeom prst="rect">
              <a:avLst/>
            </a:prstGeom>
            <a:noFill/>
            <a:ln w="9525">
              <a:noFill/>
              <a:miter lim="800000"/>
              <a:headEnd/>
              <a:tailEnd/>
            </a:ln>
          </p:spPr>
        </p:pic>
      </p:grpSp>
      <p:grpSp>
        <p:nvGrpSpPr>
          <p:cNvPr id="3" name="Group 165"/>
          <p:cNvGrpSpPr>
            <a:grpSpLocks/>
          </p:cNvGrpSpPr>
          <p:nvPr/>
        </p:nvGrpSpPr>
        <p:grpSpPr bwMode="auto">
          <a:xfrm>
            <a:off x="8001000" y="5943600"/>
            <a:ext cx="857280" cy="685800"/>
            <a:chOff x="828" y="754"/>
            <a:chExt cx="646" cy="607"/>
          </a:xfrm>
        </p:grpSpPr>
        <p:sp>
          <p:nvSpPr>
            <p:cNvPr id="13" name="Oval 32"/>
            <p:cNvSpPr>
              <a:spLocks noChangeArrowheads="1"/>
            </p:cNvSpPr>
            <p:nvPr/>
          </p:nvSpPr>
          <p:spPr bwMode="gray">
            <a:xfrm>
              <a:off x="828" y="754"/>
              <a:ext cx="639" cy="60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4" name="Oval 33"/>
            <p:cNvSpPr>
              <a:spLocks noChangeArrowheads="1"/>
            </p:cNvSpPr>
            <p:nvPr/>
          </p:nvSpPr>
          <p:spPr bwMode="gray">
            <a:xfrm>
              <a:off x="835" y="754"/>
              <a:ext cx="639" cy="607"/>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a:defRPr/>
              </a:pPr>
              <a:endParaRPr lang="ar-SA">
                <a:latin typeface="Arial" charset="0"/>
              </a:endParaRPr>
            </a:p>
          </p:txBody>
        </p:sp>
        <p:sp>
          <p:nvSpPr>
            <p:cNvPr id="15" name="Oval 34"/>
            <p:cNvSpPr>
              <a:spLocks noChangeArrowheads="1"/>
            </p:cNvSpPr>
            <p:nvPr/>
          </p:nvSpPr>
          <p:spPr bwMode="gray">
            <a:xfrm>
              <a:off x="873" y="796"/>
              <a:ext cx="558" cy="528"/>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a:defRPr/>
              </a:pPr>
              <a:endParaRPr lang="ar-SA">
                <a:latin typeface="Arial" charset="0"/>
              </a:endParaRPr>
            </a:p>
          </p:txBody>
        </p:sp>
        <p:sp>
          <p:nvSpPr>
            <p:cNvPr id="16" name="Oval 35"/>
            <p:cNvSpPr>
              <a:spLocks noChangeArrowheads="1"/>
            </p:cNvSpPr>
            <p:nvPr/>
          </p:nvSpPr>
          <p:spPr bwMode="gray">
            <a:xfrm>
              <a:off x="873" y="798"/>
              <a:ext cx="558" cy="527"/>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a:defRPr/>
              </a:pPr>
              <a:endParaRPr lang="ar-SA">
                <a:latin typeface="Arial" charset="0"/>
              </a:endParaRPr>
            </a:p>
          </p:txBody>
        </p:sp>
        <p:sp>
          <p:nvSpPr>
            <p:cNvPr id="3083" name="Oval 36"/>
            <p:cNvSpPr>
              <a:spLocks noChangeArrowheads="1"/>
            </p:cNvSpPr>
            <p:nvPr/>
          </p:nvSpPr>
          <p:spPr bwMode="gray">
            <a:xfrm>
              <a:off x="902" y="824"/>
              <a:ext cx="500" cy="476"/>
            </a:xfrm>
            <a:prstGeom prst="ellipse">
              <a:avLst/>
            </a:prstGeom>
            <a:solidFill>
              <a:srgbClr val="333333"/>
            </a:solidFill>
            <a:ln w="38100" algn="ctr">
              <a:noFill/>
              <a:round/>
              <a:headEnd/>
              <a:tailEnd/>
            </a:ln>
          </p:spPr>
          <p:txBody>
            <a:bodyPr anchor="ctr">
              <a:spAutoFit/>
            </a:bodyPr>
            <a:lstStyle/>
            <a:p>
              <a:endParaRPr lang="ar-SA"/>
            </a:p>
          </p:txBody>
        </p:sp>
        <p:sp>
          <p:nvSpPr>
            <p:cNvPr id="3084" name="Oval 38"/>
            <p:cNvSpPr>
              <a:spLocks noChangeArrowheads="1"/>
            </p:cNvSpPr>
            <p:nvPr/>
          </p:nvSpPr>
          <p:spPr bwMode="gray">
            <a:xfrm>
              <a:off x="911" y="830"/>
              <a:ext cx="484" cy="460"/>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endParaRPr lang="ar-SA"/>
            </a:p>
          </p:txBody>
        </p:sp>
        <p:sp>
          <p:nvSpPr>
            <p:cNvPr id="3085" name="Oval 39"/>
            <p:cNvSpPr>
              <a:spLocks noChangeArrowheads="1"/>
            </p:cNvSpPr>
            <p:nvPr/>
          </p:nvSpPr>
          <p:spPr bwMode="gray">
            <a:xfrm>
              <a:off x="917" y="833"/>
              <a:ext cx="473" cy="448"/>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endParaRPr lang="ar-SA"/>
            </a:p>
          </p:txBody>
        </p:sp>
        <p:sp>
          <p:nvSpPr>
            <p:cNvPr id="3086" name="Oval 40"/>
            <p:cNvSpPr>
              <a:spLocks noChangeArrowheads="1"/>
            </p:cNvSpPr>
            <p:nvPr/>
          </p:nvSpPr>
          <p:spPr bwMode="gray">
            <a:xfrm>
              <a:off x="922" y="837"/>
              <a:ext cx="449" cy="419"/>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endParaRPr lang="ar-SA"/>
            </a:p>
          </p:txBody>
        </p:sp>
        <p:sp>
          <p:nvSpPr>
            <p:cNvPr id="3087" name="Oval 41"/>
            <p:cNvSpPr>
              <a:spLocks noChangeArrowheads="1"/>
            </p:cNvSpPr>
            <p:nvPr/>
          </p:nvSpPr>
          <p:spPr bwMode="gray">
            <a:xfrm>
              <a:off x="948" y="849"/>
              <a:ext cx="400" cy="340"/>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endParaRPr lang="ar-SA"/>
            </a:p>
          </p:txBody>
        </p:sp>
      </p:grpSp>
      <p:sp>
        <p:nvSpPr>
          <p:cNvPr id="3078" name="مربع نص 48"/>
          <p:cNvSpPr txBox="1">
            <a:spLocks noChangeArrowheads="1"/>
          </p:cNvSpPr>
          <p:nvPr/>
        </p:nvSpPr>
        <p:spPr bwMode="auto">
          <a:xfrm>
            <a:off x="8072462" y="6072206"/>
            <a:ext cx="785818" cy="646331"/>
          </a:xfrm>
          <a:prstGeom prst="rect">
            <a:avLst/>
          </a:prstGeom>
          <a:noFill/>
          <a:ln w="9525">
            <a:noFill/>
            <a:miter lim="800000"/>
            <a:headEnd/>
            <a:tailEnd/>
          </a:ln>
        </p:spPr>
        <p:txBody>
          <a:bodyPr wrap="square">
            <a:spAutoFit/>
          </a:bodyPr>
          <a:lstStyle/>
          <a:p>
            <a:r>
              <a:rPr lang="en-US" sz="3600" dirty="0">
                <a:latin typeface="Adobe Gothic Std B"/>
                <a:ea typeface="Adobe Gothic Std B"/>
                <a:cs typeface="Adobe Gothic Std B"/>
              </a:rPr>
              <a:t>22</a:t>
            </a:r>
            <a:endParaRPr lang="ar-SA" sz="3600" dirty="0">
              <a:latin typeface="Adobe Gothic Std B"/>
              <a:ea typeface="Adobe Gothic Std B"/>
              <a:cs typeface="Adobe Gothic Std B"/>
            </a:endParaRPr>
          </a:p>
        </p:txBody>
      </p:sp>
      <p:pic>
        <p:nvPicPr>
          <p:cNvPr id="23" name="Picture 4"/>
          <p:cNvPicPr>
            <a:picLocks noChangeAspect="1" noChangeArrowheads="1"/>
          </p:cNvPicPr>
          <p:nvPr/>
        </p:nvPicPr>
        <p:blipFill>
          <a:blip r:embed="rId5"/>
          <a:srcRect/>
          <a:stretch>
            <a:fillRect/>
          </a:stretch>
        </p:blipFill>
        <p:spPr bwMode="auto">
          <a:xfrm>
            <a:off x="971600" y="945359"/>
            <a:ext cx="7605182" cy="4586282"/>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سمة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991</TotalTime>
  <Words>800</Words>
  <Application>Microsoft Office PowerPoint</Application>
  <PresentationFormat>On-screen Show (4:3)</PresentationFormat>
  <Paragraphs>106</Paragraphs>
  <Slides>23</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4" baseType="lpstr">
      <vt:lpstr>Adobe Gothic Std B</vt:lpstr>
      <vt:lpstr>Arial</vt:lpstr>
      <vt:lpstr>Arial Rounded MT Bold</vt:lpstr>
      <vt:lpstr>Calibri</vt:lpstr>
      <vt:lpstr>Symbol</vt:lpstr>
      <vt:lpstr>Times New Roman</vt:lpstr>
      <vt:lpstr>Wingdings</vt:lpstr>
      <vt:lpstr>Wingdings 2</vt:lpstr>
      <vt:lpstr>Wingdings 3</vt:lpstr>
      <vt:lpstr>سمة Office</vt:lpstr>
      <vt:lpstr>CS ChemDraw Drawing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الشريحة 1</dc:title>
  <dc:creator>Win 8</dc:creator>
  <cp:lastModifiedBy>Lenovo</cp:lastModifiedBy>
  <cp:revision>33</cp:revision>
  <dcterms:created xsi:type="dcterms:W3CDTF">2015-11-16T19:14:21Z</dcterms:created>
  <dcterms:modified xsi:type="dcterms:W3CDTF">2026-03-21T04:13:24Z</dcterms:modified>
</cp:coreProperties>
</file>